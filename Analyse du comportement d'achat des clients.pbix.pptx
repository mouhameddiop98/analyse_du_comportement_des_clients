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slideLayout" Target="../slideLayouts/slideLayout1.xml"/><Relationship Id="rId2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slideLayout" Target="../slideLayouts/slideLayout1.xml"/><Relationship Id="rId2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slideLayout" Target="../slideLayouts/slideLayout1.xml"/><Relationship Id="rId1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3810000" cy="3810000"/>
          </a:xfrm>
          <a:prstGeom prst="rect">
            <a:avLst/>
          </a:prstGeom>
        </p:spPr>
      </p:pic>
      <p:pic>
        <p:nvPicPr>
          <p:cNvPr id="4" name="Image 2" descr="preencoded.png">    </p:cNvPr>
          <p:cNvPicPr>
            <a:picLocks noChangeAspect="1"/>
          </p:cNvPicPr>
          <p:nvPr/>
        </p:nvPicPr>
        <p:blipFill>
          <a:blip r:embed="rId3"/>
          <a:stretch>
            <a:fillRect/>
          </a:stretch>
        </p:blipFill>
        <p:spPr>
          <a:xfrm>
            <a:off x="9810750" y="4476750"/>
            <a:ext cx="2381250" cy="3810000"/>
          </a:xfrm>
          <a:prstGeom prst="rect">
            <a:avLst/>
          </a:prstGeom>
        </p:spPr>
      </p:pic>
      <p:pic>
        <p:nvPicPr>
          <p:cNvPr id="5" name="Image 3" descr="preencoded.png">    </p:cNvPr>
          <p:cNvPicPr>
            <a:picLocks noChangeAspect="1"/>
          </p:cNvPicPr>
          <p:nvPr/>
        </p:nvPicPr>
        <p:blipFill>
          <a:blip r:embed="rId4"/>
          <a:stretch>
            <a:fillRect/>
          </a:stretch>
        </p:blipFill>
        <p:spPr>
          <a:xfrm>
            <a:off x="10287000" y="476250"/>
            <a:ext cx="1905000" cy="2857500"/>
          </a:xfrm>
          <a:prstGeom prst="rect">
            <a:avLst/>
          </a:prstGeom>
        </p:spPr>
      </p:pic>
      <p:pic>
        <p:nvPicPr>
          <p:cNvPr id="6" name="Image 4" descr="preencoded.png">    </p:cNvPr>
          <p:cNvPicPr>
            <a:picLocks noChangeAspect="1"/>
          </p:cNvPicPr>
          <p:nvPr/>
        </p:nvPicPr>
        <p:blipFill>
          <a:blip r:embed="rId5"/>
          <a:stretch>
            <a:fillRect/>
          </a:stretch>
        </p:blipFill>
        <p:spPr>
          <a:xfrm>
            <a:off x="0" y="0"/>
            <a:ext cx="12192000" cy="114300"/>
          </a:xfrm>
          <a:prstGeom prst="rect">
            <a:avLst/>
          </a:prstGeom>
        </p:spPr>
      </p:pic>
      <p:pic>
        <p:nvPicPr>
          <p:cNvPr id="7" name="Image 5" descr="preencoded.png">    </p:cNvPr>
          <p:cNvPicPr>
            <a:picLocks noChangeAspect="1"/>
          </p:cNvPicPr>
          <p:nvPr/>
        </p:nvPicPr>
        <p:blipFill>
          <a:blip r:embed="rId6"/>
          <a:stretch>
            <a:fillRect/>
          </a:stretch>
        </p:blipFill>
        <p:spPr>
          <a:xfrm>
            <a:off x="5219700" y="3419475"/>
            <a:ext cx="609600" cy="19050"/>
          </a:xfrm>
          <a:prstGeom prst="rect">
            <a:avLst/>
          </a:prstGeom>
        </p:spPr>
      </p:pic>
      <p:pic>
        <p:nvPicPr>
          <p:cNvPr id="8" name="Image 6" descr="preencoded.png">    </p:cNvPr>
          <p:cNvPicPr>
            <a:picLocks noChangeAspect="1"/>
          </p:cNvPicPr>
          <p:nvPr/>
        </p:nvPicPr>
        <p:blipFill>
          <a:blip r:embed="rId7"/>
          <a:stretch>
            <a:fillRect/>
          </a:stretch>
        </p:blipFill>
        <p:spPr>
          <a:xfrm>
            <a:off x="5981700" y="3276600"/>
            <a:ext cx="228600" cy="304800"/>
          </a:xfrm>
          <a:prstGeom prst="rect">
            <a:avLst/>
          </a:prstGeom>
        </p:spPr>
      </p:pic>
      <p:pic>
        <p:nvPicPr>
          <p:cNvPr id="9" name="Image 7" descr="preencoded.png">    </p:cNvPr>
          <p:cNvPicPr>
            <a:picLocks noChangeAspect="1"/>
          </p:cNvPicPr>
          <p:nvPr/>
        </p:nvPicPr>
        <p:blipFill>
          <a:blip r:embed="rId8"/>
          <a:stretch>
            <a:fillRect/>
          </a:stretch>
        </p:blipFill>
        <p:spPr>
          <a:xfrm>
            <a:off x="6362700" y="3419475"/>
            <a:ext cx="609600" cy="19050"/>
          </a:xfrm>
          <a:prstGeom prst="rect">
            <a:avLst/>
          </a:prstGeom>
        </p:spPr>
      </p:pic>
      <p:pic>
        <p:nvPicPr>
          <p:cNvPr id="10" name="Image 8" descr="preencoded.png">    </p:cNvPr>
          <p:cNvPicPr>
            <a:picLocks noChangeAspect="1"/>
          </p:cNvPicPr>
          <p:nvPr/>
        </p:nvPicPr>
        <p:blipFill>
          <a:blip r:embed="rId9"/>
          <a:stretch>
            <a:fillRect/>
          </a:stretch>
        </p:blipFill>
        <p:spPr>
          <a:xfrm>
            <a:off x="4776341" y="4953000"/>
            <a:ext cx="361950" cy="342900"/>
          </a:xfrm>
          <a:prstGeom prst="rect">
            <a:avLst/>
          </a:prstGeom>
        </p:spPr>
      </p:pic>
      <p:pic>
        <p:nvPicPr>
          <p:cNvPr id="11" name="Image 9" descr="preencoded.png">    </p:cNvPr>
          <p:cNvPicPr>
            <a:picLocks noChangeAspect="1"/>
          </p:cNvPicPr>
          <p:nvPr/>
        </p:nvPicPr>
        <p:blipFill>
          <a:blip r:embed="rId10"/>
          <a:stretch>
            <a:fillRect/>
          </a:stretch>
        </p:blipFill>
        <p:spPr>
          <a:xfrm>
            <a:off x="5929610" y="4953000"/>
            <a:ext cx="323850" cy="342900"/>
          </a:xfrm>
          <a:prstGeom prst="rect">
            <a:avLst/>
          </a:prstGeom>
        </p:spPr>
      </p:pic>
      <p:pic>
        <p:nvPicPr>
          <p:cNvPr id="12" name="Image 10" descr="preencoded.png">    </p:cNvPr>
          <p:cNvPicPr>
            <a:picLocks noChangeAspect="1"/>
          </p:cNvPicPr>
          <p:nvPr/>
        </p:nvPicPr>
        <p:blipFill>
          <a:blip r:embed="rId11"/>
          <a:stretch>
            <a:fillRect/>
          </a:stretch>
        </p:blipFill>
        <p:spPr>
          <a:xfrm>
            <a:off x="7068145" y="4953000"/>
            <a:ext cx="323850" cy="342900"/>
          </a:xfrm>
          <a:prstGeom prst="rect">
            <a:avLst/>
          </a:prstGeom>
        </p:spPr>
      </p:pic>
      <p:pic>
        <p:nvPicPr>
          <p:cNvPr id="13" name="Image 11" descr="preencoded.png">    </p:cNvPr>
          <p:cNvPicPr>
            <a:picLocks noChangeAspect="1"/>
          </p:cNvPicPr>
          <p:nvPr/>
        </p:nvPicPr>
        <p:blipFill>
          <a:blip r:embed="rId12"/>
          <a:stretch>
            <a:fillRect/>
          </a:stretch>
        </p:blipFill>
        <p:spPr>
          <a:xfrm>
            <a:off x="0" y="6743700"/>
            <a:ext cx="12192000" cy="114300"/>
          </a:xfrm>
          <a:prstGeom prst="rect">
            <a:avLst/>
          </a:prstGeom>
        </p:spPr>
      </p:pic>
      <p:sp>
        <p:nvSpPr>
          <p:cNvPr id="14" name="Text 0"/>
          <p:cNvSpPr/>
          <p:nvPr/>
        </p:nvSpPr>
        <p:spPr>
          <a:xfrm>
            <a:off x="2438400" y="838200"/>
            <a:ext cx="7315200" cy="266700"/>
          </a:xfrm>
          <a:prstGeom prst="rect">
            <a:avLst/>
          </a:prstGeom>
          <a:noFill/>
          <a:ln/>
        </p:spPr>
        <p:txBody>
          <a:bodyPr wrap="square" lIns="0" tIns="0" rIns="0" bIns="0" rtlCol="0" anchor="t" vert="horz"/>
          <a:lstStyle/>
          <a:p>
            <a:pPr algn="ctr" indent="0" marL="0">
              <a:lnSpc>
                <a:spcPts val="2100"/>
              </a:lnSpc>
              <a:buNone/>
            </a:pPr>
            <a:r>
              <a:rPr lang="en-US" sz="1500" spc="60" kern="0" dirty="0">
                <a:solidFill>
                  <a:srgbClr val="FB923C"/>
                </a:solidFill>
                <a:latin typeface="ui-sans-serif" pitchFamily="34" charset="0"/>
                <a:ea typeface="ui-sans-serif" pitchFamily="34" charset="-122"/>
                <a:cs typeface="ui-sans-serif" pitchFamily="34" charset="-120"/>
              </a:rPr>
              <a:t>Rapport d'Analyse</a:t>
            </a:r>
            <a:endParaRPr lang="en-US" sz="1500" dirty="0"/>
          </a:p>
        </p:txBody>
      </p:sp>
      <p:sp>
        <p:nvSpPr>
          <p:cNvPr id="15" name="Text 1"/>
          <p:cNvSpPr/>
          <p:nvPr/>
        </p:nvSpPr>
        <p:spPr>
          <a:xfrm>
            <a:off x="2438400" y="1257300"/>
            <a:ext cx="7315200" cy="1714500"/>
          </a:xfrm>
          <a:prstGeom prst="rect">
            <a:avLst/>
          </a:prstGeom>
          <a:noFill/>
          <a:ln/>
        </p:spPr>
        <p:txBody>
          <a:bodyPr wrap="square" lIns="0" tIns="0" rIns="0" bIns="0" rtlCol="0" anchor="t" vert="horz"/>
          <a:lstStyle/>
          <a:p>
            <a:pPr algn="ctr" indent="0" marL="0">
              <a:lnSpc>
                <a:spcPts val="4500"/>
              </a:lnSpc>
              <a:buNone/>
            </a:pPr>
            <a:r>
              <a:rPr lang="en-US" sz="4500" b="1" spc="-90" kern="0" dirty="0">
                <a:solidFill>
                  <a:srgbClr val="FFFFFF"/>
                </a:solidFill>
                <a:latin typeface="ui-sans-serif" pitchFamily="34" charset="0"/>
                <a:ea typeface="ui-sans-serif" pitchFamily="34" charset="-122"/>
                <a:cs typeface="ui-sans-serif" pitchFamily="34" charset="-120"/>
              </a:rPr>
              <a:t>Analyse du comportement d'achat des clients</a:t>
            </a:r>
            <a:endParaRPr lang="en-US" sz="4500" dirty="0"/>
          </a:p>
        </p:txBody>
      </p:sp>
      <p:sp>
        <p:nvSpPr>
          <p:cNvPr id="16" name="Text 2"/>
          <p:cNvSpPr/>
          <p:nvPr/>
        </p:nvSpPr>
        <p:spPr>
          <a:xfrm>
            <a:off x="2438400" y="3962400"/>
            <a:ext cx="7315200" cy="533400"/>
          </a:xfrm>
          <a:prstGeom prst="rect">
            <a:avLst/>
          </a:prstGeom>
          <a:noFill/>
          <a:ln/>
        </p:spPr>
        <p:txBody>
          <a:bodyPr wrap="square" lIns="0" tIns="0" rIns="0" bIns="0" rtlCol="0" anchor="t" vert="horz"/>
          <a:lstStyle/>
          <a:p>
            <a:pPr algn="ctr" indent="0" marL="0">
              <a:lnSpc>
                <a:spcPts val="2100"/>
              </a:lnSpc>
              <a:buNone/>
            </a:pPr>
            <a:r>
              <a:rPr lang="en-US" sz="1500" dirty="0">
                <a:solidFill>
                  <a:srgbClr val="D1D5DB"/>
                </a:solidFill>
                <a:latin typeface="ui-sans-serif" pitchFamily="34" charset="0"/>
                <a:ea typeface="ui-sans-serif" pitchFamily="34" charset="-122"/>
                <a:cs typeface="ui-sans-serif" pitchFamily="34" charset="-120"/>
              </a:rPr>
              <a:t>Une exploration des données pour identifier les tendances, segments clients et recommandations stratégiques</a:t>
            </a:r>
            <a:endParaRPr lang="en-US" sz="1500" dirty="0"/>
          </a:p>
        </p:txBody>
      </p:sp>
      <p:sp>
        <p:nvSpPr>
          <p:cNvPr id="17" name="Text 3"/>
          <p:cNvSpPr/>
          <p:nvPr/>
        </p:nvSpPr>
        <p:spPr>
          <a:xfrm>
            <a:off x="4454932" y="5372100"/>
            <a:ext cx="1004768"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3900 Clients</a:t>
            </a:r>
            <a:endParaRPr lang="en-US" sz="1050" dirty="0"/>
          </a:p>
        </p:txBody>
      </p:sp>
      <p:sp>
        <p:nvSpPr>
          <p:cNvPr id="18" name="Text 4"/>
          <p:cNvSpPr/>
          <p:nvPr/>
        </p:nvSpPr>
        <p:spPr>
          <a:xfrm>
            <a:off x="5598616" y="5372100"/>
            <a:ext cx="985838"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18 Variables</a:t>
            </a:r>
            <a:endParaRPr lang="en-US" sz="1050" dirty="0"/>
          </a:p>
        </p:txBody>
      </p:sp>
      <p:sp>
        <p:nvSpPr>
          <p:cNvPr id="19" name="Text 5"/>
          <p:cNvSpPr/>
          <p:nvPr/>
        </p:nvSpPr>
        <p:spPr>
          <a:xfrm>
            <a:off x="6722492" y="5372100"/>
            <a:ext cx="1015305"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4 Catégories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276350"/>
            <a:ext cx="228600" cy="228600"/>
          </a:xfrm>
          <a:prstGeom prst="rect">
            <a:avLst/>
          </a:prstGeom>
        </p:spPr>
      </p:pic>
      <p:pic>
        <p:nvPicPr>
          <p:cNvPr id="5" name="Image 3" descr="preencoded.png">    </p:cNvPr>
          <p:cNvPicPr>
            <a:picLocks noChangeAspect="1"/>
          </p:cNvPicPr>
          <p:nvPr/>
        </p:nvPicPr>
        <p:blipFill>
          <a:blip r:embed="rId4"/>
          <a:stretch>
            <a:fillRect/>
          </a:stretch>
        </p:blipFill>
        <p:spPr>
          <a:xfrm>
            <a:off x="609600" y="2533650"/>
            <a:ext cx="5372100" cy="1333500"/>
          </a:xfrm>
          <a:prstGeom prst="rect">
            <a:avLst/>
          </a:prstGeom>
        </p:spPr>
      </p:pic>
      <p:pic>
        <p:nvPicPr>
          <p:cNvPr id="6" name="Image 4" descr="preencoded.png">    </p:cNvPr>
          <p:cNvPicPr>
            <a:picLocks noChangeAspect="1"/>
          </p:cNvPicPr>
          <p:nvPr/>
        </p:nvPicPr>
        <p:blipFill>
          <a:blip r:embed="rId5"/>
          <a:stretch>
            <a:fillRect/>
          </a:stretch>
        </p:blipFill>
        <p:spPr>
          <a:xfrm>
            <a:off x="838200" y="2762250"/>
            <a:ext cx="285750" cy="304800"/>
          </a:xfrm>
          <a:prstGeom prst="rect">
            <a:avLst/>
          </a:prstGeom>
        </p:spPr>
      </p:pic>
      <p:pic>
        <p:nvPicPr>
          <p:cNvPr id="7" name="Image 5" descr="preencoded.png">    </p:cNvPr>
          <p:cNvPicPr>
            <a:picLocks noChangeAspect="1"/>
          </p:cNvPicPr>
          <p:nvPr/>
        </p:nvPicPr>
        <p:blipFill>
          <a:blip r:embed="rId6"/>
          <a:stretch>
            <a:fillRect/>
          </a:stretch>
        </p:blipFill>
        <p:spPr>
          <a:xfrm>
            <a:off x="6210300" y="2533650"/>
            <a:ext cx="5372100" cy="1333500"/>
          </a:xfrm>
          <a:prstGeom prst="rect">
            <a:avLst/>
          </a:prstGeom>
        </p:spPr>
      </p:pic>
      <p:pic>
        <p:nvPicPr>
          <p:cNvPr id="8" name="Image 6" descr="preencoded.png">    </p:cNvPr>
          <p:cNvPicPr>
            <a:picLocks noChangeAspect="1"/>
          </p:cNvPicPr>
          <p:nvPr/>
        </p:nvPicPr>
        <p:blipFill>
          <a:blip r:embed="rId7"/>
          <a:stretch>
            <a:fillRect/>
          </a:stretch>
        </p:blipFill>
        <p:spPr>
          <a:xfrm>
            <a:off x="6438900" y="2762250"/>
            <a:ext cx="257175" cy="304800"/>
          </a:xfrm>
          <a:prstGeom prst="rect">
            <a:avLst/>
          </a:prstGeom>
        </p:spPr>
      </p:pic>
      <p:pic>
        <p:nvPicPr>
          <p:cNvPr id="9" name="Image 7" descr="preencoded.png">    </p:cNvPr>
          <p:cNvPicPr>
            <a:picLocks noChangeAspect="1"/>
          </p:cNvPicPr>
          <p:nvPr/>
        </p:nvPicPr>
        <p:blipFill>
          <a:blip r:embed="rId8"/>
          <a:stretch>
            <a:fillRect/>
          </a:stretch>
        </p:blipFill>
        <p:spPr>
          <a:xfrm>
            <a:off x="609600" y="4095750"/>
            <a:ext cx="5372100" cy="1333500"/>
          </a:xfrm>
          <a:prstGeom prst="rect">
            <a:avLst/>
          </a:prstGeom>
        </p:spPr>
      </p:pic>
      <p:pic>
        <p:nvPicPr>
          <p:cNvPr id="10" name="Image 8" descr="preencoded.png">    </p:cNvPr>
          <p:cNvPicPr>
            <a:picLocks noChangeAspect="1"/>
          </p:cNvPicPr>
          <p:nvPr/>
        </p:nvPicPr>
        <p:blipFill>
          <a:blip r:embed="rId9"/>
          <a:stretch>
            <a:fillRect/>
          </a:stretch>
        </p:blipFill>
        <p:spPr>
          <a:xfrm>
            <a:off x="838200" y="4324350"/>
            <a:ext cx="228600" cy="304800"/>
          </a:xfrm>
          <a:prstGeom prst="rect">
            <a:avLst/>
          </a:prstGeom>
        </p:spPr>
      </p:pic>
      <p:pic>
        <p:nvPicPr>
          <p:cNvPr id="11" name="Image 9" descr="preencoded.png">    </p:cNvPr>
          <p:cNvPicPr>
            <a:picLocks noChangeAspect="1"/>
          </p:cNvPicPr>
          <p:nvPr/>
        </p:nvPicPr>
        <p:blipFill>
          <a:blip r:embed="rId10"/>
          <a:stretch>
            <a:fillRect/>
          </a:stretch>
        </p:blipFill>
        <p:spPr>
          <a:xfrm>
            <a:off x="6210300" y="4095750"/>
            <a:ext cx="5372100" cy="1333500"/>
          </a:xfrm>
          <a:prstGeom prst="rect">
            <a:avLst/>
          </a:prstGeom>
        </p:spPr>
      </p:pic>
      <p:pic>
        <p:nvPicPr>
          <p:cNvPr id="12" name="Image 10" descr="preencoded.png">    </p:cNvPr>
          <p:cNvPicPr>
            <a:picLocks noChangeAspect="1"/>
          </p:cNvPicPr>
          <p:nvPr/>
        </p:nvPicPr>
        <p:blipFill>
          <a:blip r:embed="rId11"/>
          <a:stretch>
            <a:fillRect/>
          </a:stretch>
        </p:blipFill>
        <p:spPr>
          <a:xfrm>
            <a:off x="6438900" y="4324350"/>
            <a:ext cx="228600" cy="304800"/>
          </a:xfrm>
          <a:prstGeom prst="rect">
            <a:avLst/>
          </a:prstGeom>
        </p:spPr>
      </p:pic>
      <p:sp>
        <p:nvSpPr>
          <p:cNvPr id="13" name="Text 0"/>
          <p:cNvSpPr/>
          <p:nvPr/>
        </p:nvSpPr>
        <p:spPr>
          <a:xfrm>
            <a:off x="609600" y="238125"/>
            <a:ext cx="6668155"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Aperçu du projet et objectifs</a:t>
            </a:r>
            <a:endParaRPr lang="en-US" sz="2700" dirty="0"/>
          </a:p>
        </p:txBody>
      </p:sp>
      <p:sp>
        <p:nvSpPr>
          <p:cNvPr id="14" name="Text 1"/>
          <p:cNvSpPr/>
          <p:nvPr/>
        </p:nvSpPr>
        <p:spPr>
          <a:xfrm>
            <a:off x="952500" y="1238250"/>
            <a:ext cx="109728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Vue d'ensemble du projet</a:t>
            </a:r>
            <a:endParaRPr lang="en-US" sz="1800" dirty="0"/>
          </a:p>
        </p:txBody>
      </p:sp>
      <p:sp>
        <p:nvSpPr>
          <p:cNvPr id="15" name="Text 2"/>
          <p:cNvSpPr/>
          <p:nvPr/>
        </p:nvSpPr>
        <p:spPr>
          <a:xfrm>
            <a:off x="990600" y="1695450"/>
            <a:ext cx="10591800" cy="533400"/>
          </a:xfrm>
          <a:prstGeom prst="rect">
            <a:avLst/>
          </a:prstGeom>
          <a:noFill/>
          <a:ln/>
        </p:spPr>
        <p:txBody>
          <a:bodyPr wrap="square" lIns="0" tIns="0" rIns="0" bIns="0" rtlCol="0" anchor="t" vert="horz"/>
          <a:lstStyle/>
          <a:p>
            <a:pPr indent="0" marL="0">
              <a:lnSpc>
                <a:spcPts val="2100"/>
              </a:lnSpc>
              <a:buNone/>
            </a:pPr>
            <a:r>
              <a:rPr lang="en-US" sz="1350" dirty="0">
                <a:solidFill>
                  <a:srgbClr val="374151"/>
                </a:solidFill>
                <a:latin typeface="ui-sans-serif" pitchFamily="34" charset="0"/>
                <a:ea typeface="ui-sans-serif" pitchFamily="34" charset="-122"/>
                <a:cs typeface="ui-sans-serif" pitchFamily="34" charset="-120"/>
              </a:rPr>
              <a:t>Analyse du comportement d'achat des clients à partir de données transactionnelles provenant de 3 900 achats effectués dans différentes catégories de produits.</a:t>
            </a:r>
            <a:endParaRPr lang="en-US" sz="1350" dirty="0"/>
          </a:p>
        </p:txBody>
      </p:sp>
      <p:sp>
        <p:nvSpPr>
          <p:cNvPr id="16" name="Text 3"/>
          <p:cNvSpPr/>
          <p:nvPr/>
        </p:nvSpPr>
        <p:spPr>
          <a:xfrm>
            <a:off x="1238250" y="2781300"/>
            <a:ext cx="4525744"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Identification des segments clients</a:t>
            </a:r>
            <a:endParaRPr lang="en-US" sz="1500" dirty="0"/>
          </a:p>
        </p:txBody>
      </p:sp>
      <p:sp>
        <p:nvSpPr>
          <p:cNvPr id="17" name="Text 4"/>
          <p:cNvSpPr/>
          <p:nvPr/>
        </p:nvSpPr>
        <p:spPr>
          <a:xfrm>
            <a:off x="838200" y="3181350"/>
            <a:ext cx="4914900" cy="4572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Déterminer les différents groupes de clients selon leurs comportements d'achat et leurs préférences.</a:t>
            </a:r>
            <a:endParaRPr lang="en-US" sz="1200" dirty="0"/>
          </a:p>
        </p:txBody>
      </p:sp>
      <p:sp>
        <p:nvSpPr>
          <p:cNvPr id="18" name="Text 5"/>
          <p:cNvSpPr/>
          <p:nvPr/>
        </p:nvSpPr>
        <p:spPr>
          <a:xfrm>
            <a:off x="6810375" y="2781300"/>
            <a:ext cx="4617363"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Analyse des habitudes de dépenses</a:t>
            </a:r>
            <a:endParaRPr lang="en-US" sz="1500" dirty="0"/>
          </a:p>
        </p:txBody>
      </p:sp>
      <p:sp>
        <p:nvSpPr>
          <p:cNvPr id="19" name="Text 6"/>
          <p:cNvSpPr/>
          <p:nvPr/>
        </p:nvSpPr>
        <p:spPr>
          <a:xfrm>
            <a:off x="6438900" y="3181350"/>
            <a:ext cx="4914900" cy="4572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Comprendre les schémas de dépenses et les facteurs influençant les décisions d'achat.</a:t>
            </a:r>
            <a:endParaRPr lang="en-US" sz="1200" dirty="0"/>
          </a:p>
        </p:txBody>
      </p:sp>
      <p:sp>
        <p:nvSpPr>
          <p:cNvPr id="20" name="Text 7"/>
          <p:cNvSpPr/>
          <p:nvPr/>
        </p:nvSpPr>
        <p:spPr>
          <a:xfrm>
            <a:off x="1181100" y="4343400"/>
            <a:ext cx="3059668"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Évaluation des produits</a:t>
            </a:r>
            <a:endParaRPr lang="en-US" sz="1500" dirty="0"/>
          </a:p>
        </p:txBody>
      </p:sp>
      <p:sp>
        <p:nvSpPr>
          <p:cNvPr id="21" name="Text 8"/>
          <p:cNvSpPr/>
          <p:nvPr/>
        </p:nvSpPr>
        <p:spPr>
          <a:xfrm>
            <a:off x="838200" y="4743450"/>
            <a:ext cx="4914900" cy="4572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Identifier les produits les mieux et moins bien notés pour guider les décisions marketing.</a:t>
            </a:r>
            <a:endParaRPr lang="en-US" sz="1200" dirty="0"/>
          </a:p>
        </p:txBody>
      </p:sp>
      <p:sp>
        <p:nvSpPr>
          <p:cNvPr id="22" name="Text 9"/>
          <p:cNvSpPr/>
          <p:nvPr/>
        </p:nvSpPr>
        <p:spPr>
          <a:xfrm>
            <a:off x="6781800" y="4343400"/>
            <a:ext cx="4094262"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Recommandations stratégiques</a:t>
            </a:r>
            <a:endParaRPr lang="en-US" sz="1500" dirty="0"/>
          </a:p>
        </p:txBody>
      </p:sp>
      <p:sp>
        <p:nvSpPr>
          <p:cNvPr id="23" name="Text 10"/>
          <p:cNvSpPr/>
          <p:nvPr/>
        </p:nvSpPr>
        <p:spPr>
          <a:xfrm>
            <a:off x="6438900" y="4743450"/>
            <a:ext cx="4914900" cy="4572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Fournir des insights pour améliorer les performances business et optimiser l'expérience client.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390650"/>
            <a:ext cx="304800" cy="381000"/>
          </a:xfrm>
          <a:prstGeom prst="rect">
            <a:avLst/>
          </a:prstGeom>
        </p:spPr>
      </p:pic>
      <p:pic>
        <p:nvPicPr>
          <p:cNvPr id="5" name="Image 3" descr="preencoded.png">    </p:cNvPr>
          <p:cNvPicPr>
            <a:picLocks noChangeAspect="1"/>
          </p:cNvPicPr>
          <p:nvPr/>
        </p:nvPicPr>
        <p:blipFill>
          <a:blip r:embed="rId4"/>
          <a:stretch>
            <a:fillRect/>
          </a:stretch>
        </p:blipFill>
        <p:spPr>
          <a:xfrm>
            <a:off x="9387780" y="1162050"/>
            <a:ext cx="2194620" cy="838200"/>
          </a:xfrm>
          <a:prstGeom prst="rect">
            <a:avLst/>
          </a:prstGeom>
        </p:spPr>
      </p:pic>
      <p:pic>
        <p:nvPicPr>
          <p:cNvPr id="6" name="Image 4" descr="preencoded.png">    </p:cNvPr>
          <p:cNvPicPr>
            <a:picLocks noChangeAspect="1"/>
          </p:cNvPicPr>
          <p:nvPr/>
        </p:nvPicPr>
        <p:blipFill>
          <a:blip r:embed="rId5"/>
          <a:stretch>
            <a:fillRect/>
          </a:stretch>
        </p:blipFill>
        <p:spPr>
          <a:xfrm>
            <a:off x="609600" y="2305050"/>
            <a:ext cx="3505200" cy="2895600"/>
          </a:xfrm>
          <a:prstGeom prst="rect">
            <a:avLst/>
          </a:prstGeom>
        </p:spPr>
      </p:pic>
      <p:pic>
        <p:nvPicPr>
          <p:cNvPr id="7" name="Image 5" descr="preencoded.png">    </p:cNvPr>
          <p:cNvPicPr>
            <a:picLocks noChangeAspect="1"/>
          </p:cNvPicPr>
          <p:nvPr/>
        </p:nvPicPr>
        <p:blipFill>
          <a:blip r:embed="rId6"/>
          <a:stretch>
            <a:fillRect/>
          </a:stretch>
        </p:blipFill>
        <p:spPr>
          <a:xfrm>
            <a:off x="838200" y="2647950"/>
            <a:ext cx="285750" cy="304800"/>
          </a:xfrm>
          <a:prstGeom prst="rect">
            <a:avLst/>
          </a:prstGeom>
        </p:spPr>
      </p:pic>
      <p:pic>
        <p:nvPicPr>
          <p:cNvPr id="8" name="Image 6" descr="preencoded.png">    </p:cNvPr>
          <p:cNvPicPr>
            <a:picLocks noChangeAspect="1"/>
          </p:cNvPicPr>
          <p:nvPr/>
        </p:nvPicPr>
        <p:blipFill>
          <a:blip r:embed="rId7"/>
          <a:stretch>
            <a:fillRect/>
          </a:stretch>
        </p:blipFill>
        <p:spPr>
          <a:xfrm>
            <a:off x="914400" y="3257550"/>
            <a:ext cx="152400" cy="152400"/>
          </a:xfrm>
          <a:prstGeom prst="rect">
            <a:avLst/>
          </a:prstGeom>
        </p:spPr>
      </p:pic>
      <p:pic>
        <p:nvPicPr>
          <p:cNvPr id="9" name="Image 7" descr="preencoded.png">    </p:cNvPr>
          <p:cNvPicPr>
            <a:picLocks noChangeAspect="1"/>
          </p:cNvPicPr>
          <p:nvPr/>
        </p:nvPicPr>
        <p:blipFill>
          <a:blip r:embed="rId8"/>
          <a:stretch>
            <a:fillRect/>
          </a:stretch>
        </p:blipFill>
        <p:spPr>
          <a:xfrm>
            <a:off x="914400" y="3562350"/>
            <a:ext cx="190500" cy="152400"/>
          </a:xfrm>
          <a:prstGeom prst="rect">
            <a:avLst/>
          </a:prstGeom>
        </p:spPr>
      </p:pic>
      <p:pic>
        <p:nvPicPr>
          <p:cNvPr id="10" name="Image 8" descr="preencoded.png">    </p:cNvPr>
          <p:cNvPicPr>
            <a:picLocks noChangeAspect="1"/>
          </p:cNvPicPr>
          <p:nvPr/>
        </p:nvPicPr>
        <p:blipFill>
          <a:blip r:embed="rId9"/>
          <a:stretch>
            <a:fillRect/>
          </a:stretch>
        </p:blipFill>
        <p:spPr>
          <a:xfrm>
            <a:off x="914400" y="3867150"/>
            <a:ext cx="114300" cy="152400"/>
          </a:xfrm>
          <a:prstGeom prst="rect">
            <a:avLst/>
          </a:prstGeom>
        </p:spPr>
      </p:pic>
      <p:pic>
        <p:nvPicPr>
          <p:cNvPr id="11" name="Image 9" descr="preencoded.png">    </p:cNvPr>
          <p:cNvPicPr>
            <a:picLocks noChangeAspect="1"/>
          </p:cNvPicPr>
          <p:nvPr/>
        </p:nvPicPr>
        <p:blipFill>
          <a:blip r:embed="rId10"/>
          <a:stretch>
            <a:fillRect/>
          </a:stretch>
        </p:blipFill>
        <p:spPr>
          <a:xfrm>
            <a:off x="914400" y="4171950"/>
            <a:ext cx="171450" cy="152400"/>
          </a:xfrm>
          <a:prstGeom prst="rect">
            <a:avLst/>
          </a:prstGeom>
        </p:spPr>
      </p:pic>
      <p:pic>
        <p:nvPicPr>
          <p:cNvPr id="12" name="Image 10" descr="preencoded.png">    </p:cNvPr>
          <p:cNvPicPr>
            <a:picLocks noChangeAspect="1"/>
          </p:cNvPicPr>
          <p:nvPr/>
        </p:nvPicPr>
        <p:blipFill>
          <a:blip r:embed="rId11"/>
          <a:stretch>
            <a:fillRect/>
          </a:stretch>
        </p:blipFill>
        <p:spPr>
          <a:xfrm>
            <a:off x="4343400" y="2305050"/>
            <a:ext cx="3505200" cy="2895600"/>
          </a:xfrm>
          <a:prstGeom prst="rect">
            <a:avLst/>
          </a:prstGeom>
        </p:spPr>
      </p:pic>
      <p:pic>
        <p:nvPicPr>
          <p:cNvPr id="13" name="Image 11" descr="preencoded.png">    </p:cNvPr>
          <p:cNvPicPr>
            <a:picLocks noChangeAspect="1"/>
          </p:cNvPicPr>
          <p:nvPr/>
        </p:nvPicPr>
        <p:blipFill>
          <a:blip r:embed="rId12"/>
          <a:stretch>
            <a:fillRect/>
          </a:stretch>
        </p:blipFill>
        <p:spPr>
          <a:xfrm>
            <a:off x="4572000" y="2533650"/>
            <a:ext cx="257175" cy="304800"/>
          </a:xfrm>
          <a:prstGeom prst="rect">
            <a:avLst/>
          </a:prstGeom>
        </p:spPr>
      </p:pic>
      <p:pic>
        <p:nvPicPr>
          <p:cNvPr id="14" name="Image 12" descr="preencoded.png">    </p:cNvPr>
          <p:cNvPicPr>
            <a:picLocks noChangeAspect="1"/>
          </p:cNvPicPr>
          <p:nvPr/>
        </p:nvPicPr>
        <p:blipFill>
          <a:blip r:embed="rId13"/>
          <a:stretch>
            <a:fillRect/>
          </a:stretch>
        </p:blipFill>
        <p:spPr>
          <a:xfrm>
            <a:off x="4648200" y="3028950"/>
            <a:ext cx="190500" cy="152400"/>
          </a:xfrm>
          <a:prstGeom prst="rect">
            <a:avLst/>
          </a:prstGeom>
        </p:spPr>
      </p:pic>
      <p:pic>
        <p:nvPicPr>
          <p:cNvPr id="15" name="Image 13" descr="preencoded.png">    </p:cNvPr>
          <p:cNvPicPr>
            <a:picLocks noChangeAspect="1"/>
          </p:cNvPicPr>
          <p:nvPr/>
        </p:nvPicPr>
        <p:blipFill>
          <a:blip r:embed="rId14"/>
          <a:stretch>
            <a:fillRect/>
          </a:stretch>
        </p:blipFill>
        <p:spPr>
          <a:xfrm>
            <a:off x="4648200" y="3333750"/>
            <a:ext cx="152400" cy="152400"/>
          </a:xfrm>
          <a:prstGeom prst="rect">
            <a:avLst/>
          </a:prstGeom>
        </p:spPr>
      </p:pic>
      <p:pic>
        <p:nvPicPr>
          <p:cNvPr id="16" name="Image 14" descr="preencoded.png">    </p:cNvPr>
          <p:cNvPicPr>
            <a:picLocks noChangeAspect="1"/>
          </p:cNvPicPr>
          <p:nvPr/>
        </p:nvPicPr>
        <p:blipFill>
          <a:blip r:embed="rId15"/>
          <a:stretch>
            <a:fillRect/>
          </a:stretch>
        </p:blipFill>
        <p:spPr>
          <a:xfrm>
            <a:off x="4648200" y="3638550"/>
            <a:ext cx="95250" cy="152400"/>
          </a:xfrm>
          <a:prstGeom prst="rect">
            <a:avLst/>
          </a:prstGeom>
        </p:spPr>
      </p:pic>
      <p:pic>
        <p:nvPicPr>
          <p:cNvPr id="17" name="Image 15" descr="preencoded.png">    </p:cNvPr>
          <p:cNvPicPr>
            <a:picLocks noChangeAspect="1"/>
          </p:cNvPicPr>
          <p:nvPr/>
        </p:nvPicPr>
        <p:blipFill>
          <a:blip r:embed="rId16"/>
          <a:stretch>
            <a:fillRect/>
          </a:stretch>
        </p:blipFill>
        <p:spPr>
          <a:xfrm>
            <a:off x="4648200" y="3943350"/>
            <a:ext cx="133350" cy="152400"/>
          </a:xfrm>
          <a:prstGeom prst="rect">
            <a:avLst/>
          </a:prstGeom>
        </p:spPr>
      </p:pic>
      <p:pic>
        <p:nvPicPr>
          <p:cNvPr id="18" name="Image 16" descr="preencoded.png">    </p:cNvPr>
          <p:cNvPicPr>
            <a:picLocks noChangeAspect="1"/>
          </p:cNvPicPr>
          <p:nvPr/>
        </p:nvPicPr>
        <p:blipFill>
          <a:blip r:embed="rId17"/>
          <a:stretch>
            <a:fillRect/>
          </a:stretch>
        </p:blipFill>
        <p:spPr>
          <a:xfrm>
            <a:off x="4648200" y="4248150"/>
            <a:ext cx="152400" cy="152400"/>
          </a:xfrm>
          <a:prstGeom prst="rect">
            <a:avLst/>
          </a:prstGeom>
        </p:spPr>
      </p:pic>
      <p:pic>
        <p:nvPicPr>
          <p:cNvPr id="19" name="Image 17" descr="preencoded.png">    </p:cNvPr>
          <p:cNvPicPr>
            <a:picLocks noChangeAspect="1"/>
          </p:cNvPicPr>
          <p:nvPr/>
        </p:nvPicPr>
        <p:blipFill>
          <a:blip r:embed="rId18"/>
          <a:stretch>
            <a:fillRect/>
          </a:stretch>
        </p:blipFill>
        <p:spPr>
          <a:xfrm>
            <a:off x="8077200" y="2305050"/>
            <a:ext cx="3505200" cy="2895600"/>
          </a:xfrm>
          <a:prstGeom prst="rect">
            <a:avLst/>
          </a:prstGeom>
        </p:spPr>
      </p:pic>
      <p:pic>
        <p:nvPicPr>
          <p:cNvPr id="20" name="Image 18" descr="preencoded.png">    </p:cNvPr>
          <p:cNvPicPr>
            <a:picLocks noChangeAspect="1"/>
          </p:cNvPicPr>
          <p:nvPr/>
        </p:nvPicPr>
        <p:blipFill>
          <a:blip r:embed="rId19"/>
          <a:stretch>
            <a:fillRect/>
          </a:stretch>
        </p:blipFill>
        <p:spPr>
          <a:xfrm>
            <a:off x="8305800" y="2647950"/>
            <a:ext cx="228600" cy="304800"/>
          </a:xfrm>
          <a:prstGeom prst="rect">
            <a:avLst/>
          </a:prstGeom>
        </p:spPr>
      </p:pic>
      <p:pic>
        <p:nvPicPr>
          <p:cNvPr id="21" name="Image 19" descr="preencoded.png">    </p:cNvPr>
          <p:cNvPicPr>
            <a:picLocks noChangeAspect="1"/>
          </p:cNvPicPr>
          <p:nvPr/>
        </p:nvPicPr>
        <p:blipFill>
          <a:blip r:embed="rId20"/>
          <a:stretch>
            <a:fillRect/>
          </a:stretch>
        </p:blipFill>
        <p:spPr>
          <a:xfrm>
            <a:off x="8382000" y="3257550"/>
            <a:ext cx="123825" cy="152400"/>
          </a:xfrm>
          <a:prstGeom prst="rect">
            <a:avLst/>
          </a:prstGeom>
        </p:spPr>
      </p:pic>
      <p:pic>
        <p:nvPicPr>
          <p:cNvPr id="22" name="Image 20" descr="preencoded.png">    </p:cNvPr>
          <p:cNvPicPr>
            <a:picLocks noChangeAspect="1"/>
          </p:cNvPicPr>
          <p:nvPr/>
        </p:nvPicPr>
        <p:blipFill>
          <a:blip r:embed="rId21"/>
          <a:stretch>
            <a:fillRect/>
          </a:stretch>
        </p:blipFill>
        <p:spPr>
          <a:xfrm>
            <a:off x="8382000" y="3562350"/>
            <a:ext cx="171450" cy="152400"/>
          </a:xfrm>
          <a:prstGeom prst="rect">
            <a:avLst/>
          </a:prstGeom>
        </p:spPr>
      </p:pic>
      <p:pic>
        <p:nvPicPr>
          <p:cNvPr id="23" name="Image 21" descr="preencoded.png">    </p:cNvPr>
          <p:cNvPicPr>
            <a:picLocks noChangeAspect="1"/>
          </p:cNvPicPr>
          <p:nvPr/>
        </p:nvPicPr>
        <p:blipFill>
          <a:blip r:embed="rId22"/>
          <a:stretch>
            <a:fillRect/>
          </a:stretch>
        </p:blipFill>
        <p:spPr>
          <a:xfrm>
            <a:off x="8382000" y="3867150"/>
            <a:ext cx="152400" cy="152400"/>
          </a:xfrm>
          <a:prstGeom prst="rect">
            <a:avLst/>
          </a:prstGeom>
        </p:spPr>
      </p:pic>
      <p:pic>
        <p:nvPicPr>
          <p:cNvPr id="24" name="Image 22" descr="preencoded.png">    </p:cNvPr>
          <p:cNvPicPr>
            <a:picLocks noChangeAspect="1"/>
          </p:cNvPicPr>
          <p:nvPr/>
        </p:nvPicPr>
        <p:blipFill>
          <a:blip r:embed="rId23"/>
          <a:stretch>
            <a:fillRect/>
          </a:stretch>
        </p:blipFill>
        <p:spPr>
          <a:xfrm>
            <a:off x="8382000" y="4171950"/>
            <a:ext cx="152400" cy="152400"/>
          </a:xfrm>
          <a:prstGeom prst="rect">
            <a:avLst/>
          </a:prstGeom>
        </p:spPr>
      </p:pic>
      <p:pic>
        <p:nvPicPr>
          <p:cNvPr id="25" name="Image 23" descr="preencoded.png">    </p:cNvPr>
          <p:cNvPicPr>
            <a:picLocks noChangeAspect="1"/>
          </p:cNvPicPr>
          <p:nvPr/>
        </p:nvPicPr>
        <p:blipFill>
          <a:blip r:embed="rId24"/>
          <a:stretch>
            <a:fillRect/>
          </a:stretch>
        </p:blipFill>
        <p:spPr>
          <a:xfrm>
            <a:off x="8382000" y="4476750"/>
            <a:ext cx="171450" cy="152400"/>
          </a:xfrm>
          <a:prstGeom prst="rect">
            <a:avLst/>
          </a:prstGeom>
        </p:spPr>
      </p:pic>
      <p:pic>
        <p:nvPicPr>
          <p:cNvPr id="26" name="Image 24" descr="preencoded.png">    </p:cNvPr>
          <p:cNvPicPr>
            <a:picLocks noChangeAspect="1"/>
          </p:cNvPicPr>
          <p:nvPr/>
        </p:nvPicPr>
        <p:blipFill>
          <a:blip r:embed="rId25"/>
          <a:stretch>
            <a:fillRect/>
          </a:stretch>
        </p:blipFill>
        <p:spPr>
          <a:xfrm>
            <a:off x="8382000" y="4781550"/>
            <a:ext cx="190500" cy="152400"/>
          </a:xfrm>
          <a:prstGeom prst="rect">
            <a:avLst/>
          </a:prstGeom>
        </p:spPr>
      </p:pic>
      <p:pic>
        <p:nvPicPr>
          <p:cNvPr id="27" name="Image 25" descr="preencoded.png">    </p:cNvPr>
          <p:cNvPicPr>
            <a:picLocks noChangeAspect="1"/>
          </p:cNvPicPr>
          <p:nvPr/>
        </p:nvPicPr>
        <p:blipFill>
          <a:blip r:embed="rId26"/>
          <a:stretch>
            <a:fillRect/>
          </a:stretch>
        </p:blipFill>
        <p:spPr>
          <a:xfrm>
            <a:off x="609600" y="5429250"/>
            <a:ext cx="10972800" cy="533400"/>
          </a:xfrm>
          <a:prstGeom prst="rect">
            <a:avLst/>
          </a:prstGeom>
        </p:spPr>
      </p:pic>
      <p:pic>
        <p:nvPicPr>
          <p:cNvPr id="28" name="Image 26" descr="preencoded.png">    </p:cNvPr>
          <p:cNvPicPr>
            <a:picLocks noChangeAspect="1"/>
          </p:cNvPicPr>
          <p:nvPr/>
        </p:nvPicPr>
        <p:blipFill>
          <a:blip r:embed="rId27"/>
          <a:stretch>
            <a:fillRect/>
          </a:stretch>
        </p:blipFill>
        <p:spPr>
          <a:xfrm>
            <a:off x="762000" y="5610225"/>
            <a:ext cx="152400" cy="152400"/>
          </a:xfrm>
          <a:prstGeom prst="rect">
            <a:avLst/>
          </a:prstGeom>
        </p:spPr>
      </p:pic>
      <p:sp>
        <p:nvSpPr>
          <p:cNvPr id="29" name="Text 0"/>
          <p:cNvSpPr/>
          <p:nvPr/>
        </p:nvSpPr>
        <p:spPr>
          <a:xfrm>
            <a:off x="609600" y="238125"/>
            <a:ext cx="661797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Structure du jeu de données</a:t>
            </a:r>
            <a:endParaRPr lang="en-US" sz="2700" dirty="0"/>
          </a:p>
        </p:txBody>
      </p:sp>
      <p:sp>
        <p:nvSpPr>
          <p:cNvPr id="30" name="Text 1"/>
          <p:cNvSpPr/>
          <p:nvPr/>
        </p:nvSpPr>
        <p:spPr>
          <a:xfrm>
            <a:off x="1066800" y="1314450"/>
            <a:ext cx="3134499"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Jeux de données</a:t>
            </a:r>
            <a:endParaRPr lang="en-US" sz="1800" dirty="0"/>
          </a:p>
        </p:txBody>
      </p:sp>
      <p:sp>
        <p:nvSpPr>
          <p:cNvPr id="31" name="Text 2"/>
          <p:cNvSpPr/>
          <p:nvPr/>
        </p:nvSpPr>
        <p:spPr>
          <a:xfrm>
            <a:off x="1066800" y="1619250"/>
            <a:ext cx="3134499" cy="2286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3 900 transactions et 18 variables</a:t>
            </a:r>
            <a:endParaRPr lang="en-US" sz="1200" dirty="0"/>
          </a:p>
        </p:txBody>
      </p:sp>
      <p:sp>
        <p:nvSpPr>
          <p:cNvPr id="32" name="Text 3"/>
          <p:cNvSpPr/>
          <p:nvPr/>
        </p:nvSpPr>
        <p:spPr>
          <a:xfrm>
            <a:off x="9540180" y="1314450"/>
            <a:ext cx="1073884" cy="342900"/>
          </a:xfrm>
          <a:prstGeom prst="rect">
            <a:avLst/>
          </a:prstGeom>
          <a:noFill/>
          <a:ln/>
        </p:spPr>
        <p:txBody>
          <a:bodyPr wrap="square" lIns="0" tIns="0" rIns="0" bIns="0" rtlCol="0" anchor="t" vert="horz"/>
          <a:lstStyle/>
          <a:p>
            <a:pPr indent="0" marL="0">
              <a:lnSpc>
                <a:spcPts val="2700"/>
              </a:lnSpc>
              <a:buNone/>
            </a:pPr>
            <a:r>
              <a:rPr lang="en-US" sz="2250" b="1" dirty="0">
                <a:solidFill>
                  <a:srgbClr val="4F46E5"/>
                </a:solidFill>
                <a:latin typeface="ui-sans-serif" pitchFamily="34" charset="0"/>
                <a:ea typeface="ui-sans-serif" pitchFamily="34" charset="-122"/>
                <a:cs typeface="ui-sans-serif" pitchFamily="34" charset="-120"/>
              </a:rPr>
              <a:t>3 900</a:t>
            </a:r>
            <a:endParaRPr lang="en-US" sz="2250" dirty="0"/>
          </a:p>
        </p:txBody>
      </p:sp>
      <p:sp>
        <p:nvSpPr>
          <p:cNvPr id="33" name="Text 4"/>
          <p:cNvSpPr/>
          <p:nvPr/>
        </p:nvSpPr>
        <p:spPr>
          <a:xfrm>
            <a:off x="9540180" y="1657350"/>
            <a:ext cx="1073884" cy="190500"/>
          </a:xfrm>
          <a:prstGeom prst="rect">
            <a:avLst/>
          </a:prstGeom>
          <a:noFill/>
          <a:ln/>
        </p:spPr>
        <p:txBody>
          <a:bodyPr wrap="square" lIns="0" tIns="0" rIns="0" bIns="0" rtlCol="0" anchor="t" vert="horz"/>
          <a:lstStyle/>
          <a:p>
            <a:pPr indent="0" marL="0">
              <a:lnSpc>
                <a:spcPts val="1500"/>
              </a:lnSpc>
              <a:buNone/>
            </a:pPr>
            <a:r>
              <a:rPr lang="en-US" sz="1050" dirty="0">
                <a:solidFill>
                  <a:srgbClr val="6B7280"/>
                </a:solidFill>
                <a:latin typeface="ui-sans-serif" pitchFamily="34" charset="0"/>
                <a:ea typeface="ui-sans-serif" pitchFamily="34" charset="-122"/>
                <a:cs typeface="ui-sans-serif" pitchFamily="34" charset="-120"/>
              </a:rPr>
              <a:t>Lignes</a:t>
            </a:r>
            <a:endParaRPr lang="en-US" sz="1050" dirty="0"/>
          </a:p>
        </p:txBody>
      </p:sp>
      <p:sp>
        <p:nvSpPr>
          <p:cNvPr id="34" name="Text 5"/>
          <p:cNvSpPr/>
          <p:nvPr/>
        </p:nvSpPr>
        <p:spPr>
          <a:xfrm>
            <a:off x="10816084" y="1314450"/>
            <a:ext cx="736699" cy="342900"/>
          </a:xfrm>
          <a:prstGeom prst="rect">
            <a:avLst/>
          </a:prstGeom>
          <a:noFill/>
          <a:ln/>
        </p:spPr>
        <p:txBody>
          <a:bodyPr wrap="square" lIns="0" tIns="0" rIns="0" bIns="0" rtlCol="0" anchor="t" vert="horz"/>
          <a:lstStyle/>
          <a:p>
            <a:pPr indent="0" marL="0">
              <a:lnSpc>
                <a:spcPts val="2700"/>
              </a:lnSpc>
              <a:buNone/>
            </a:pPr>
            <a:r>
              <a:rPr lang="en-US" sz="2250" b="1" dirty="0">
                <a:solidFill>
                  <a:srgbClr val="4F46E5"/>
                </a:solidFill>
                <a:latin typeface="ui-sans-serif" pitchFamily="34" charset="0"/>
                <a:ea typeface="ui-sans-serif" pitchFamily="34" charset="-122"/>
                <a:cs typeface="ui-sans-serif" pitchFamily="34" charset="-120"/>
              </a:rPr>
              <a:t>18</a:t>
            </a:r>
            <a:endParaRPr lang="en-US" sz="2250" dirty="0"/>
          </a:p>
        </p:txBody>
      </p:sp>
      <p:sp>
        <p:nvSpPr>
          <p:cNvPr id="35" name="Text 6"/>
          <p:cNvSpPr/>
          <p:nvPr/>
        </p:nvSpPr>
        <p:spPr>
          <a:xfrm>
            <a:off x="10816084" y="1657350"/>
            <a:ext cx="736699" cy="190500"/>
          </a:xfrm>
          <a:prstGeom prst="rect">
            <a:avLst/>
          </a:prstGeom>
          <a:noFill/>
          <a:ln/>
        </p:spPr>
        <p:txBody>
          <a:bodyPr wrap="square" lIns="0" tIns="0" rIns="0" bIns="0" rtlCol="0" anchor="t" vert="horz"/>
          <a:lstStyle/>
          <a:p>
            <a:pPr indent="0" marL="0">
              <a:lnSpc>
                <a:spcPts val="1500"/>
              </a:lnSpc>
              <a:buNone/>
            </a:pPr>
            <a:r>
              <a:rPr lang="en-US" sz="1050" dirty="0">
                <a:solidFill>
                  <a:srgbClr val="6B7280"/>
                </a:solidFill>
                <a:latin typeface="ui-sans-serif" pitchFamily="34" charset="0"/>
                <a:ea typeface="ui-sans-serif" pitchFamily="34" charset="-122"/>
                <a:cs typeface="ui-sans-serif" pitchFamily="34" charset="-120"/>
              </a:rPr>
              <a:t>Colonnes</a:t>
            </a:r>
            <a:endParaRPr lang="en-US" sz="1050" dirty="0"/>
          </a:p>
        </p:txBody>
      </p:sp>
      <p:sp>
        <p:nvSpPr>
          <p:cNvPr id="36" name="Text 7"/>
          <p:cNvSpPr/>
          <p:nvPr/>
        </p:nvSpPr>
        <p:spPr>
          <a:xfrm>
            <a:off x="1238250" y="2533650"/>
            <a:ext cx="264795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Données démographiques</a:t>
            </a:r>
            <a:endParaRPr lang="en-US" sz="1500" dirty="0"/>
          </a:p>
        </p:txBody>
      </p:sp>
      <p:sp>
        <p:nvSpPr>
          <p:cNvPr id="37" name="Text 8"/>
          <p:cNvSpPr/>
          <p:nvPr/>
        </p:nvSpPr>
        <p:spPr>
          <a:xfrm>
            <a:off x="1143000" y="3219450"/>
            <a:ext cx="1391424"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Âge des clients</a:t>
            </a:r>
            <a:endParaRPr lang="en-US" sz="1200" dirty="0"/>
          </a:p>
        </p:txBody>
      </p:sp>
      <p:sp>
        <p:nvSpPr>
          <p:cNvPr id="38" name="Text 9"/>
          <p:cNvSpPr/>
          <p:nvPr/>
        </p:nvSpPr>
        <p:spPr>
          <a:xfrm>
            <a:off x="1181100" y="3524250"/>
            <a:ext cx="553819"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Genre</a:t>
            </a:r>
            <a:endParaRPr lang="en-US" sz="1200" dirty="0"/>
          </a:p>
        </p:txBody>
      </p:sp>
      <p:sp>
        <p:nvSpPr>
          <p:cNvPr id="39" name="Text 10"/>
          <p:cNvSpPr/>
          <p:nvPr/>
        </p:nvSpPr>
        <p:spPr>
          <a:xfrm>
            <a:off x="1104900" y="3829050"/>
            <a:ext cx="1082457"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Localisation</a:t>
            </a:r>
            <a:endParaRPr lang="en-US" sz="1200" dirty="0"/>
          </a:p>
        </p:txBody>
      </p:sp>
      <p:sp>
        <p:nvSpPr>
          <p:cNvPr id="40" name="Text 11"/>
          <p:cNvSpPr/>
          <p:nvPr/>
        </p:nvSpPr>
        <p:spPr>
          <a:xfrm>
            <a:off x="1162050" y="4133850"/>
            <a:ext cx="1946315"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Statut d'abonnement</a:t>
            </a:r>
            <a:endParaRPr lang="en-US" sz="1200" dirty="0"/>
          </a:p>
        </p:txBody>
      </p:sp>
      <p:sp>
        <p:nvSpPr>
          <p:cNvPr id="41" name="Text 12"/>
          <p:cNvSpPr/>
          <p:nvPr/>
        </p:nvSpPr>
        <p:spPr>
          <a:xfrm>
            <a:off x="4943475" y="2552700"/>
            <a:ext cx="2367260"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Détails des achats</a:t>
            </a:r>
            <a:endParaRPr lang="en-US" sz="1500" dirty="0"/>
          </a:p>
        </p:txBody>
      </p:sp>
      <p:sp>
        <p:nvSpPr>
          <p:cNvPr id="42" name="Text 13"/>
          <p:cNvSpPr/>
          <p:nvPr/>
        </p:nvSpPr>
        <p:spPr>
          <a:xfrm>
            <a:off x="4914900" y="2990850"/>
            <a:ext cx="1270159"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Article acheté</a:t>
            </a:r>
            <a:endParaRPr lang="en-US" sz="1200" dirty="0"/>
          </a:p>
        </p:txBody>
      </p:sp>
      <p:sp>
        <p:nvSpPr>
          <p:cNvPr id="43" name="Text 14"/>
          <p:cNvSpPr/>
          <p:nvPr/>
        </p:nvSpPr>
        <p:spPr>
          <a:xfrm>
            <a:off x="4876800" y="3295650"/>
            <a:ext cx="890468"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Catégorie</a:t>
            </a:r>
            <a:endParaRPr lang="en-US" sz="1200" dirty="0"/>
          </a:p>
        </p:txBody>
      </p:sp>
      <p:sp>
        <p:nvSpPr>
          <p:cNvPr id="44" name="Text 15"/>
          <p:cNvSpPr/>
          <p:nvPr/>
        </p:nvSpPr>
        <p:spPr>
          <a:xfrm>
            <a:off x="4819650" y="3600450"/>
            <a:ext cx="1715214"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Montant de l'achat</a:t>
            </a:r>
            <a:endParaRPr lang="en-US" sz="1200" dirty="0"/>
          </a:p>
        </p:txBody>
      </p:sp>
      <p:sp>
        <p:nvSpPr>
          <p:cNvPr id="45" name="Text 16"/>
          <p:cNvSpPr/>
          <p:nvPr/>
        </p:nvSpPr>
        <p:spPr>
          <a:xfrm>
            <a:off x="4857750" y="3905250"/>
            <a:ext cx="602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Saison</a:t>
            </a:r>
            <a:endParaRPr lang="en-US" sz="1200" dirty="0"/>
          </a:p>
        </p:txBody>
      </p:sp>
      <p:sp>
        <p:nvSpPr>
          <p:cNvPr id="46" name="Text 17"/>
          <p:cNvSpPr/>
          <p:nvPr/>
        </p:nvSpPr>
        <p:spPr>
          <a:xfrm>
            <a:off x="4876800" y="4210050"/>
            <a:ext cx="70991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Couleur</a:t>
            </a:r>
            <a:endParaRPr lang="en-US" sz="1200" dirty="0"/>
          </a:p>
        </p:txBody>
      </p:sp>
      <p:sp>
        <p:nvSpPr>
          <p:cNvPr id="47" name="Text 18"/>
          <p:cNvSpPr/>
          <p:nvPr/>
        </p:nvSpPr>
        <p:spPr>
          <a:xfrm>
            <a:off x="8648700" y="2533650"/>
            <a:ext cx="270510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Comportement de consommation</a:t>
            </a:r>
            <a:endParaRPr lang="en-US" sz="1500" dirty="0"/>
          </a:p>
        </p:txBody>
      </p:sp>
      <p:sp>
        <p:nvSpPr>
          <p:cNvPr id="48" name="Text 19"/>
          <p:cNvSpPr/>
          <p:nvPr/>
        </p:nvSpPr>
        <p:spPr>
          <a:xfrm>
            <a:off x="8582025" y="3219450"/>
            <a:ext cx="1629132"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Remise appliquée</a:t>
            </a:r>
            <a:endParaRPr lang="en-US" sz="1200" dirty="0"/>
          </a:p>
        </p:txBody>
      </p:sp>
      <p:sp>
        <p:nvSpPr>
          <p:cNvPr id="49" name="Text 20"/>
          <p:cNvSpPr/>
          <p:nvPr/>
        </p:nvSpPr>
        <p:spPr>
          <a:xfrm>
            <a:off x="8629650" y="3524250"/>
            <a:ext cx="1721465"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Code promo utilisé</a:t>
            </a:r>
            <a:endParaRPr lang="en-US" sz="1200" dirty="0"/>
          </a:p>
        </p:txBody>
      </p:sp>
      <p:sp>
        <p:nvSpPr>
          <p:cNvPr id="50" name="Text 21"/>
          <p:cNvSpPr/>
          <p:nvPr/>
        </p:nvSpPr>
        <p:spPr>
          <a:xfrm>
            <a:off x="8610600" y="3829050"/>
            <a:ext cx="1699855"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Achats précédents</a:t>
            </a:r>
            <a:endParaRPr lang="en-US" sz="1200" dirty="0"/>
          </a:p>
        </p:txBody>
      </p:sp>
      <p:sp>
        <p:nvSpPr>
          <p:cNvPr id="51" name="Text 22"/>
          <p:cNvSpPr/>
          <p:nvPr/>
        </p:nvSpPr>
        <p:spPr>
          <a:xfrm>
            <a:off x="8610600" y="4133850"/>
            <a:ext cx="1996857"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Fréquence des achats</a:t>
            </a:r>
            <a:endParaRPr lang="en-US" sz="1200" dirty="0"/>
          </a:p>
        </p:txBody>
      </p:sp>
      <p:sp>
        <p:nvSpPr>
          <p:cNvPr id="52" name="Text 23"/>
          <p:cNvSpPr/>
          <p:nvPr/>
        </p:nvSpPr>
        <p:spPr>
          <a:xfrm>
            <a:off x="8629650" y="4438650"/>
            <a:ext cx="1023878"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Note d'avis</a:t>
            </a:r>
            <a:endParaRPr lang="en-US" sz="1200" dirty="0"/>
          </a:p>
        </p:txBody>
      </p:sp>
      <p:sp>
        <p:nvSpPr>
          <p:cNvPr id="53" name="Text 24"/>
          <p:cNvSpPr/>
          <p:nvPr/>
        </p:nvSpPr>
        <p:spPr>
          <a:xfrm>
            <a:off x="8648700" y="4743450"/>
            <a:ext cx="16078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Type d'expédition</a:t>
            </a:r>
            <a:endParaRPr lang="en-US" sz="1200" dirty="0"/>
          </a:p>
        </p:txBody>
      </p:sp>
      <p:sp>
        <p:nvSpPr>
          <p:cNvPr id="54" name="Text 25"/>
          <p:cNvSpPr/>
          <p:nvPr/>
        </p:nvSpPr>
        <p:spPr>
          <a:xfrm>
            <a:off x="1028700" y="5581650"/>
            <a:ext cx="7461825" cy="190500"/>
          </a:xfrm>
          <a:prstGeom prst="rect">
            <a:avLst/>
          </a:prstGeom>
          <a:noFill/>
          <a:ln/>
        </p:spPr>
        <p:txBody>
          <a:bodyPr wrap="square" lIns="0" tIns="0" rIns="0" bIns="0" rtlCol="0" anchor="t" vert="horz"/>
          <a:lstStyle/>
          <a:p>
            <a:pPr indent="0" marL="0">
              <a:lnSpc>
                <a:spcPts val="1500"/>
              </a:lnSpc>
              <a:buNone/>
            </a:pPr>
            <a:r>
              <a:rPr lang="en-US" sz="1050" dirty="0">
                <a:solidFill>
                  <a:srgbClr val="A16207"/>
                </a:solidFill>
                <a:latin typeface="ui-sans-serif" pitchFamily="34" charset="0"/>
                <a:ea typeface="ui-sans-serif" pitchFamily="34" charset="-122"/>
                <a:cs typeface="ui-sans-serif" pitchFamily="34" charset="-120"/>
              </a:rPr>
              <a:t>Données manquantes :</a:t>
            </a:r>
            <a:pPr indent="0" marL="0">
              <a:lnSpc>
                <a:spcPts val="1500"/>
              </a:lnSpc>
              <a:buNone/>
            </a:pPr>
            <a:r>
              <a:rPr lang="en-US" sz="1050" dirty="0">
                <a:solidFill>
                  <a:srgbClr val="A16207"/>
                </a:solidFill>
                <a:latin typeface="ui-sans-serif" pitchFamily="34" charset="0"/>
                <a:ea typeface="ui-sans-serif" pitchFamily="34" charset="-122"/>
                <a:cs typeface="ui-sans-serif" pitchFamily="34" charset="-120"/>
              </a:rPr>
              <a:t> 37 valeurs absentes dans la colonne Review Rating (note/évaluation)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657350"/>
            <a:ext cx="2133600" cy="1943100"/>
          </a:xfrm>
          <a:prstGeom prst="rect">
            <a:avLst/>
          </a:prstGeom>
        </p:spPr>
      </p:pic>
      <p:pic>
        <p:nvPicPr>
          <p:cNvPr id="5" name="Image 3" descr="preencoded.png">    </p:cNvPr>
          <p:cNvPicPr>
            <a:picLocks noChangeAspect="1"/>
          </p:cNvPicPr>
          <p:nvPr/>
        </p:nvPicPr>
        <p:blipFill>
          <a:blip r:embed="rId4"/>
          <a:stretch>
            <a:fillRect/>
          </a:stretch>
        </p:blipFill>
        <p:spPr>
          <a:xfrm>
            <a:off x="1447800" y="1847850"/>
            <a:ext cx="457200" cy="457200"/>
          </a:xfrm>
          <a:prstGeom prst="rect">
            <a:avLst/>
          </a:prstGeom>
        </p:spPr>
      </p:pic>
      <p:pic>
        <p:nvPicPr>
          <p:cNvPr id="6" name="Image 4" descr="preencoded.png">    </p:cNvPr>
          <p:cNvPicPr>
            <a:picLocks noChangeAspect="1"/>
          </p:cNvPicPr>
          <p:nvPr/>
        </p:nvPicPr>
        <p:blipFill>
          <a:blip r:embed="rId5"/>
          <a:stretch>
            <a:fillRect/>
          </a:stretch>
        </p:blipFill>
        <p:spPr>
          <a:xfrm>
            <a:off x="1562100" y="1924050"/>
            <a:ext cx="228600" cy="304800"/>
          </a:xfrm>
          <a:prstGeom prst="rect">
            <a:avLst/>
          </a:prstGeom>
        </p:spPr>
      </p:pic>
      <p:pic>
        <p:nvPicPr>
          <p:cNvPr id="7" name="Image 5" descr="preencoded.png">    </p:cNvPr>
          <p:cNvPicPr>
            <a:picLocks noChangeAspect="1"/>
          </p:cNvPicPr>
          <p:nvPr/>
        </p:nvPicPr>
        <p:blipFill>
          <a:blip r:embed="rId6"/>
          <a:stretch>
            <a:fillRect/>
          </a:stretch>
        </p:blipFill>
        <p:spPr>
          <a:xfrm>
            <a:off x="3555950" y="1657350"/>
            <a:ext cx="2133600" cy="2324100"/>
          </a:xfrm>
          <a:prstGeom prst="rect">
            <a:avLst/>
          </a:prstGeom>
        </p:spPr>
      </p:pic>
      <p:pic>
        <p:nvPicPr>
          <p:cNvPr id="8" name="Image 6" descr="preencoded.png">    </p:cNvPr>
          <p:cNvPicPr>
            <a:picLocks noChangeAspect="1"/>
          </p:cNvPicPr>
          <p:nvPr/>
        </p:nvPicPr>
        <p:blipFill>
          <a:blip r:embed="rId7"/>
          <a:stretch>
            <a:fillRect/>
          </a:stretch>
        </p:blipFill>
        <p:spPr>
          <a:xfrm>
            <a:off x="4394150" y="1847850"/>
            <a:ext cx="457200" cy="457200"/>
          </a:xfrm>
          <a:prstGeom prst="rect">
            <a:avLst/>
          </a:prstGeom>
        </p:spPr>
      </p:pic>
      <p:pic>
        <p:nvPicPr>
          <p:cNvPr id="9" name="Image 7" descr="preencoded.png">    </p:cNvPr>
          <p:cNvPicPr>
            <a:picLocks noChangeAspect="1"/>
          </p:cNvPicPr>
          <p:nvPr/>
        </p:nvPicPr>
        <p:blipFill>
          <a:blip r:embed="rId8"/>
          <a:stretch>
            <a:fillRect/>
          </a:stretch>
        </p:blipFill>
        <p:spPr>
          <a:xfrm>
            <a:off x="4508450" y="1924050"/>
            <a:ext cx="228600" cy="304800"/>
          </a:xfrm>
          <a:prstGeom prst="rect">
            <a:avLst/>
          </a:prstGeom>
        </p:spPr>
      </p:pic>
      <p:pic>
        <p:nvPicPr>
          <p:cNvPr id="10" name="Image 8" descr="preencoded.png">    </p:cNvPr>
          <p:cNvPicPr>
            <a:picLocks noChangeAspect="1"/>
          </p:cNvPicPr>
          <p:nvPr/>
        </p:nvPicPr>
        <p:blipFill>
          <a:blip r:embed="rId9"/>
          <a:stretch>
            <a:fillRect/>
          </a:stretch>
        </p:blipFill>
        <p:spPr>
          <a:xfrm>
            <a:off x="6502301" y="1657350"/>
            <a:ext cx="2133600" cy="2400300"/>
          </a:xfrm>
          <a:prstGeom prst="rect">
            <a:avLst/>
          </a:prstGeom>
        </p:spPr>
      </p:pic>
      <p:pic>
        <p:nvPicPr>
          <p:cNvPr id="11" name="Image 9" descr="preencoded.png">    </p:cNvPr>
          <p:cNvPicPr>
            <a:picLocks noChangeAspect="1"/>
          </p:cNvPicPr>
          <p:nvPr/>
        </p:nvPicPr>
        <p:blipFill>
          <a:blip r:embed="rId10"/>
          <a:stretch>
            <a:fillRect/>
          </a:stretch>
        </p:blipFill>
        <p:spPr>
          <a:xfrm>
            <a:off x="7340501" y="1847850"/>
            <a:ext cx="457200" cy="457200"/>
          </a:xfrm>
          <a:prstGeom prst="rect">
            <a:avLst/>
          </a:prstGeom>
        </p:spPr>
      </p:pic>
      <p:pic>
        <p:nvPicPr>
          <p:cNvPr id="12" name="Image 10" descr="preencoded.png">    </p:cNvPr>
          <p:cNvPicPr>
            <a:picLocks noChangeAspect="1"/>
          </p:cNvPicPr>
          <p:nvPr/>
        </p:nvPicPr>
        <p:blipFill>
          <a:blip r:embed="rId11"/>
          <a:stretch>
            <a:fillRect/>
          </a:stretch>
        </p:blipFill>
        <p:spPr>
          <a:xfrm>
            <a:off x="7454801" y="1924050"/>
            <a:ext cx="228600" cy="304800"/>
          </a:xfrm>
          <a:prstGeom prst="rect">
            <a:avLst/>
          </a:prstGeom>
        </p:spPr>
      </p:pic>
      <p:pic>
        <p:nvPicPr>
          <p:cNvPr id="13" name="Image 11" descr="preencoded.png">    </p:cNvPr>
          <p:cNvPicPr>
            <a:picLocks noChangeAspect="1"/>
          </p:cNvPicPr>
          <p:nvPr/>
        </p:nvPicPr>
        <p:blipFill>
          <a:blip r:embed="rId12"/>
          <a:stretch>
            <a:fillRect/>
          </a:stretch>
        </p:blipFill>
        <p:spPr>
          <a:xfrm>
            <a:off x="9448651" y="1657350"/>
            <a:ext cx="2133600" cy="2324100"/>
          </a:xfrm>
          <a:prstGeom prst="rect">
            <a:avLst/>
          </a:prstGeom>
        </p:spPr>
      </p:pic>
      <p:pic>
        <p:nvPicPr>
          <p:cNvPr id="14" name="Image 12" descr="preencoded.png">    </p:cNvPr>
          <p:cNvPicPr>
            <a:picLocks noChangeAspect="1"/>
          </p:cNvPicPr>
          <p:nvPr/>
        </p:nvPicPr>
        <p:blipFill>
          <a:blip r:embed="rId13"/>
          <a:stretch>
            <a:fillRect/>
          </a:stretch>
        </p:blipFill>
        <p:spPr>
          <a:xfrm>
            <a:off x="10286851" y="1847850"/>
            <a:ext cx="457200" cy="457200"/>
          </a:xfrm>
          <a:prstGeom prst="rect">
            <a:avLst/>
          </a:prstGeom>
        </p:spPr>
      </p:pic>
      <p:pic>
        <p:nvPicPr>
          <p:cNvPr id="15" name="Image 13" descr="preencoded.png">    </p:cNvPr>
          <p:cNvPicPr>
            <a:picLocks noChangeAspect="1"/>
          </p:cNvPicPr>
          <p:nvPr/>
        </p:nvPicPr>
        <p:blipFill>
          <a:blip r:embed="rId14"/>
          <a:stretch>
            <a:fillRect/>
          </a:stretch>
        </p:blipFill>
        <p:spPr>
          <a:xfrm>
            <a:off x="10401151" y="1924050"/>
            <a:ext cx="228600" cy="304800"/>
          </a:xfrm>
          <a:prstGeom prst="rect">
            <a:avLst/>
          </a:prstGeom>
        </p:spPr>
      </p:pic>
      <p:pic>
        <p:nvPicPr>
          <p:cNvPr id="16" name="Image 14" descr="preencoded.png">    </p:cNvPr>
          <p:cNvPicPr>
            <a:picLocks noChangeAspect="1"/>
          </p:cNvPicPr>
          <p:nvPr/>
        </p:nvPicPr>
        <p:blipFill>
          <a:blip r:embed="rId15"/>
          <a:stretch>
            <a:fillRect/>
          </a:stretch>
        </p:blipFill>
        <p:spPr>
          <a:xfrm>
            <a:off x="2057400" y="4362450"/>
            <a:ext cx="2438400" cy="2057400"/>
          </a:xfrm>
          <a:prstGeom prst="rect">
            <a:avLst/>
          </a:prstGeom>
        </p:spPr>
      </p:pic>
      <p:pic>
        <p:nvPicPr>
          <p:cNvPr id="17" name="Image 15" descr="preencoded.png">    </p:cNvPr>
          <p:cNvPicPr>
            <a:picLocks noChangeAspect="1"/>
          </p:cNvPicPr>
          <p:nvPr/>
        </p:nvPicPr>
        <p:blipFill>
          <a:blip r:embed="rId16"/>
          <a:stretch>
            <a:fillRect/>
          </a:stretch>
        </p:blipFill>
        <p:spPr>
          <a:xfrm>
            <a:off x="3048000" y="4552950"/>
            <a:ext cx="457200" cy="457200"/>
          </a:xfrm>
          <a:prstGeom prst="rect">
            <a:avLst/>
          </a:prstGeom>
        </p:spPr>
      </p:pic>
      <p:pic>
        <p:nvPicPr>
          <p:cNvPr id="18" name="Image 16" descr="preencoded.png">    </p:cNvPr>
          <p:cNvPicPr>
            <a:picLocks noChangeAspect="1"/>
          </p:cNvPicPr>
          <p:nvPr/>
        </p:nvPicPr>
        <p:blipFill>
          <a:blip r:embed="rId17"/>
          <a:stretch>
            <a:fillRect/>
          </a:stretch>
        </p:blipFill>
        <p:spPr>
          <a:xfrm>
            <a:off x="3176588" y="4629150"/>
            <a:ext cx="200025" cy="304800"/>
          </a:xfrm>
          <a:prstGeom prst="rect">
            <a:avLst/>
          </a:prstGeom>
        </p:spPr>
      </p:pic>
      <p:pic>
        <p:nvPicPr>
          <p:cNvPr id="19" name="Image 17" descr="preencoded.png">    </p:cNvPr>
          <p:cNvPicPr>
            <a:picLocks noChangeAspect="1"/>
          </p:cNvPicPr>
          <p:nvPr/>
        </p:nvPicPr>
        <p:blipFill>
          <a:blip r:embed="rId18"/>
          <a:stretch>
            <a:fillRect/>
          </a:stretch>
        </p:blipFill>
        <p:spPr>
          <a:xfrm>
            <a:off x="4876800" y="4362450"/>
            <a:ext cx="2438400" cy="2705100"/>
          </a:xfrm>
          <a:prstGeom prst="rect">
            <a:avLst/>
          </a:prstGeom>
        </p:spPr>
      </p:pic>
      <p:pic>
        <p:nvPicPr>
          <p:cNvPr id="20" name="Image 18" descr="preencoded.png">    </p:cNvPr>
          <p:cNvPicPr>
            <a:picLocks noChangeAspect="1"/>
          </p:cNvPicPr>
          <p:nvPr/>
        </p:nvPicPr>
        <p:blipFill>
          <a:blip r:embed="rId19"/>
          <a:stretch>
            <a:fillRect/>
          </a:stretch>
        </p:blipFill>
        <p:spPr>
          <a:xfrm>
            <a:off x="5867400" y="4552950"/>
            <a:ext cx="457200" cy="457200"/>
          </a:xfrm>
          <a:prstGeom prst="rect">
            <a:avLst/>
          </a:prstGeom>
        </p:spPr>
      </p:pic>
      <p:pic>
        <p:nvPicPr>
          <p:cNvPr id="21" name="Image 19" descr="preencoded.png">    </p:cNvPr>
          <p:cNvPicPr>
            <a:picLocks noChangeAspect="1"/>
          </p:cNvPicPr>
          <p:nvPr/>
        </p:nvPicPr>
        <p:blipFill>
          <a:blip r:embed="rId20"/>
          <a:stretch>
            <a:fillRect/>
          </a:stretch>
        </p:blipFill>
        <p:spPr>
          <a:xfrm>
            <a:off x="5981700" y="4629150"/>
            <a:ext cx="228600" cy="304800"/>
          </a:xfrm>
          <a:prstGeom prst="rect">
            <a:avLst/>
          </a:prstGeom>
        </p:spPr>
      </p:pic>
      <p:pic>
        <p:nvPicPr>
          <p:cNvPr id="22" name="Image 20" descr="preencoded.png">    </p:cNvPr>
          <p:cNvPicPr>
            <a:picLocks noChangeAspect="1"/>
          </p:cNvPicPr>
          <p:nvPr/>
        </p:nvPicPr>
        <p:blipFill>
          <a:blip r:embed="rId21"/>
          <a:stretch>
            <a:fillRect/>
          </a:stretch>
        </p:blipFill>
        <p:spPr>
          <a:xfrm>
            <a:off x="7696200" y="4362450"/>
            <a:ext cx="2438400" cy="2133600"/>
          </a:xfrm>
          <a:prstGeom prst="rect">
            <a:avLst/>
          </a:prstGeom>
        </p:spPr>
      </p:pic>
      <p:pic>
        <p:nvPicPr>
          <p:cNvPr id="23" name="Image 21" descr="preencoded.png">    </p:cNvPr>
          <p:cNvPicPr>
            <a:picLocks noChangeAspect="1"/>
          </p:cNvPicPr>
          <p:nvPr/>
        </p:nvPicPr>
        <p:blipFill>
          <a:blip r:embed="rId22"/>
          <a:stretch>
            <a:fillRect/>
          </a:stretch>
        </p:blipFill>
        <p:spPr>
          <a:xfrm>
            <a:off x="8686800" y="4552950"/>
            <a:ext cx="457200" cy="457200"/>
          </a:xfrm>
          <a:prstGeom prst="rect">
            <a:avLst/>
          </a:prstGeom>
        </p:spPr>
      </p:pic>
      <p:pic>
        <p:nvPicPr>
          <p:cNvPr id="24" name="Image 22" descr="preencoded.png">    </p:cNvPr>
          <p:cNvPicPr>
            <a:picLocks noChangeAspect="1"/>
          </p:cNvPicPr>
          <p:nvPr/>
        </p:nvPicPr>
        <p:blipFill>
          <a:blip r:embed="rId23"/>
          <a:stretch>
            <a:fillRect/>
          </a:stretch>
        </p:blipFill>
        <p:spPr>
          <a:xfrm>
            <a:off x="8815388" y="4629150"/>
            <a:ext cx="200025" cy="304800"/>
          </a:xfrm>
          <a:prstGeom prst="rect">
            <a:avLst/>
          </a:prstGeom>
        </p:spPr>
      </p:pic>
      <p:sp>
        <p:nvSpPr>
          <p:cNvPr id="25" name="Text 0"/>
          <p:cNvSpPr/>
          <p:nvPr/>
        </p:nvSpPr>
        <p:spPr>
          <a:xfrm>
            <a:off x="609600" y="238125"/>
            <a:ext cx="552194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Méthodologie d'analyse</a:t>
            </a:r>
            <a:endParaRPr lang="en-US" sz="2700" dirty="0"/>
          </a:p>
        </p:txBody>
      </p:sp>
      <p:sp>
        <p:nvSpPr>
          <p:cNvPr id="26" name="Text 1"/>
          <p:cNvSpPr/>
          <p:nvPr/>
        </p:nvSpPr>
        <p:spPr>
          <a:xfrm>
            <a:off x="609600" y="1162050"/>
            <a:ext cx="13167360" cy="266700"/>
          </a:xfrm>
          <a:prstGeom prst="rect">
            <a:avLst/>
          </a:prstGeom>
          <a:noFill/>
          <a:ln/>
        </p:spPr>
        <p:txBody>
          <a:bodyPr wrap="square" lIns="0" tIns="0" rIns="0" bIns="0" rtlCol="0" anchor="t" vert="horz"/>
          <a:lstStyle/>
          <a:p>
            <a:pPr indent="0" marL="0">
              <a:lnSpc>
                <a:spcPts val="2100"/>
              </a:lnSpc>
              <a:buNone/>
            </a:pPr>
            <a:r>
              <a:rPr lang="en-US" sz="1350" dirty="0">
                <a:solidFill>
                  <a:srgbClr val="374151"/>
                </a:solidFill>
                <a:latin typeface="ui-sans-serif" pitchFamily="34" charset="0"/>
                <a:ea typeface="ui-sans-serif" pitchFamily="34" charset="-122"/>
                <a:cs typeface="ui-sans-serif" pitchFamily="34" charset="-120"/>
              </a:rPr>
              <a:t>Processus structuré d'analyse des données pour extraire des insights pertinents sur le comportement des clients.</a:t>
            </a:r>
            <a:endParaRPr lang="en-US" sz="1350" dirty="0"/>
          </a:p>
        </p:txBody>
      </p:sp>
      <p:sp>
        <p:nvSpPr>
          <p:cNvPr id="27" name="Text 2"/>
          <p:cNvSpPr/>
          <p:nvPr/>
        </p:nvSpPr>
        <p:spPr>
          <a:xfrm>
            <a:off x="800100" y="2419350"/>
            <a:ext cx="1752600" cy="5334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Chargement des données</a:t>
            </a:r>
            <a:endParaRPr lang="en-US" sz="1350" dirty="0"/>
          </a:p>
        </p:txBody>
      </p:sp>
      <p:sp>
        <p:nvSpPr>
          <p:cNvPr id="28" name="Text 3"/>
          <p:cNvSpPr/>
          <p:nvPr/>
        </p:nvSpPr>
        <p:spPr>
          <a:xfrm>
            <a:off x="800100" y="3028950"/>
            <a:ext cx="17526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Importation du dataset avec pandas</a:t>
            </a:r>
            <a:endParaRPr lang="en-US" sz="1050" dirty="0"/>
          </a:p>
        </p:txBody>
      </p:sp>
      <p:sp>
        <p:nvSpPr>
          <p:cNvPr id="29" name="Text 4"/>
          <p:cNvSpPr/>
          <p:nvPr/>
        </p:nvSpPr>
        <p:spPr>
          <a:xfrm>
            <a:off x="3746450" y="2419350"/>
            <a:ext cx="1752600" cy="5334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Exploration initiale</a:t>
            </a:r>
            <a:endParaRPr lang="en-US" sz="1350" dirty="0"/>
          </a:p>
        </p:txBody>
      </p:sp>
      <p:sp>
        <p:nvSpPr>
          <p:cNvPr id="30" name="Text 5"/>
          <p:cNvSpPr/>
          <p:nvPr/>
        </p:nvSpPr>
        <p:spPr>
          <a:xfrm>
            <a:off x="3746450" y="3028950"/>
            <a:ext cx="1752600" cy="7620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Vérification de la structure (df.info()) et statistiques descriptives (df.describe())</a:t>
            </a:r>
            <a:endParaRPr lang="en-US" sz="1050" dirty="0"/>
          </a:p>
        </p:txBody>
      </p:sp>
      <p:sp>
        <p:nvSpPr>
          <p:cNvPr id="31" name="Text 6"/>
          <p:cNvSpPr/>
          <p:nvPr/>
        </p:nvSpPr>
        <p:spPr>
          <a:xfrm>
            <a:off x="6692801" y="2419350"/>
            <a:ext cx="1752600" cy="8001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Gestion des valeurs manquantes</a:t>
            </a:r>
            <a:endParaRPr lang="en-US" sz="1350" dirty="0"/>
          </a:p>
        </p:txBody>
      </p:sp>
      <p:sp>
        <p:nvSpPr>
          <p:cNvPr id="32" name="Text 7"/>
          <p:cNvSpPr/>
          <p:nvPr/>
        </p:nvSpPr>
        <p:spPr>
          <a:xfrm>
            <a:off x="6692801" y="3295650"/>
            <a:ext cx="1752600" cy="5715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Vérification et imputation des valeurs nulles dans la colonne Review Rating</a:t>
            </a:r>
            <a:endParaRPr lang="en-US" sz="1050" dirty="0"/>
          </a:p>
        </p:txBody>
      </p:sp>
      <p:sp>
        <p:nvSpPr>
          <p:cNvPr id="33" name="Text 8"/>
          <p:cNvSpPr/>
          <p:nvPr/>
        </p:nvSpPr>
        <p:spPr>
          <a:xfrm>
            <a:off x="9639151" y="2419350"/>
            <a:ext cx="1752600" cy="5334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Standardisation des données</a:t>
            </a:r>
            <a:endParaRPr lang="en-US" sz="1350" dirty="0"/>
          </a:p>
        </p:txBody>
      </p:sp>
      <p:sp>
        <p:nvSpPr>
          <p:cNvPr id="34" name="Text 9"/>
          <p:cNvSpPr/>
          <p:nvPr/>
        </p:nvSpPr>
        <p:spPr>
          <a:xfrm>
            <a:off x="9639151" y="3028950"/>
            <a:ext cx="1752600" cy="7620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Renommage des colonnes en snake_case pour une meilleure lisibilité</a:t>
            </a:r>
            <a:endParaRPr lang="en-US" sz="1050" dirty="0"/>
          </a:p>
        </p:txBody>
      </p:sp>
      <p:sp>
        <p:nvSpPr>
          <p:cNvPr id="35" name="Text 10"/>
          <p:cNvSpPr/>
          <p:nvPr/>
        </p:nvSpPr>
        <p:spPr>
          <a:xfrm>
            <a:off x="2042160" y="5124450"/>
            <a:ext cx="2468880" cy="2667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Feature Engineering</a:t>
            </a:r>
            <a:endParaRPr lang="en-US" sz="1350" dirty="0"/>
          </a:p>
        </p:txBody>
      </p:sp>
      <p:sp>
        <p:nvSpPr>
          <p:cNvPr id="36" name="Text 11"/>
          <p:cNvSpPr/>
          <p:nvPr/>
        </p:nvSpPr>
        <p:spPr>
          <a:xfrm>
            <a:off x="2247900" y="5467350"/>
            <a:ext cx="2057400" cy="3810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Création de la colonne age_group</a:t>
            </a:r>
            <a:endParaRPr lang="en-US" sz="1050" dirty="0"/>
          </a:p>
        </p:txBody>
      </p:sp>
      <p:sp>
        <p:nvSpPr>
          <p:cNvPr id="37" name="Text 12"/>
          <p:cNvSpPr/>
          <p:nvPr/>
        </p:nvSpPr>
        <p:spPr>
          <a:xfrm>
            <a:off x="2247900" y="5848350"/>
            <a:ext cx="2057400" cy="3810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Création de la colonne purchase_frequency_days</a:t>
            </a:r>
            <a:endParaRPr lang="en-US" sz="1050" dirty="0"/>
          </a:p>
        </p:txBody>
      </p:sp>
      <p:sp>
        <p:nvSpPr>
          <p:cNvPr id="38" name="Text 13"/>
          <p:cNvSpPr/>
          <p:nvPr/>
        </p:nvSpPr>
        <p:spPr>
          <a:xfrm>
            <a:off x="5067300" y="5124450"/>
            <a:ext cx="2057400" cy="5334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Vérification de la cohérence</a:t>
            </a:r>
            <a:endParaRPr lang="en-US" sz="1350" dirty="0"/>
          </a:p>
        </p:txBody>
      </p:sp>
      <p:sp>
        <p:nvSpPr>
          <p:cNvPr id="39" name="Text 14"/>
          <p:cNvSpPr/>
          <p:nvPr/>
        </p:nvSpPr>
        <p:spPr>
          <a:xfrm>
            <a:off x="5067300" y="5734050"/>
            <a:ext cx="2057400" cy="7620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Vérification de la redondance entre discount_applied et promo_code_used</a:t>
            </a:r>
            <a:endParaRPr lang="en-US" sz="1050" dirty="0"/>
          </a:p>
        </p:txBody>
      </p:sp>
      <p:sp>
        <p:nvSpPr>
          <p:cNvPr id="40" name="Text 15"/>
          <p:cNvSpPr/>
          <p:nvPr/>
        </p:nvSpPr>
        <p:spPr>
          <a:xfrm>
            <a:off x="5067300" y="6496050"/>
            <a:ext cx="2057400" cy="3810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Suppression de la colonne promo_code_used</a:t>
            </a:r>
            <a:endParaRPr lang="en-US" sz="1050" dirty="0"/>
          </a:p>
        </p:txBody>
      </p:sp>
      <p:sp>
        <p:nvSpPr>
          <p:cNvPr id="41" name="Text 16"/>
          <p:cNvSpPr/>
          <p:nvPr/>
        </p:nvSpPr>
        <p:spPr>
          <a:xfrm>
            <a:off x="7886700" y="5124450"/>
            <a:ext cx="2057400" cy="533400"/>
          </a:xfrm>
          <a:prstGeom prst="rect">
            <a:avLst/>
          </a:prstGeom>
          <a:noFill/>
          <a:ln/>
        </p:spPr>
        <p:txBody>
          <a:bodyPr wrap="square" lIns="0" tIns="0" rIns="0" bIns="0" rtlCol="0" anchor="t" vert="horz"/>
          <a:lstStyle/>
          <a:p>
            <a:pPr algn="ct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Intégration base de données</a:t>
            </a:r>
            <a:endParaRPr lang="en-US" sz="1350" dirty="0"/>
          </a:p>
        </p:txBody>
      </p:sp>
      <p:sp>
        <p:nvSpPr>
          <p:cNvPr id="42" name="Text 17"/>
          <p:cNvSpPr/>
          <p:nvPr/>
        </p:nvSpPr>
        <p:spPr>
          <a:xfrm>
            <a:off x="7886700" y="5734050"/>
            <a:ext cx="2468880" cy="1905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Connexion à PostgreSQL</a:t>
            </a:r>
            <a:endParaRPr lang="en-US" sz="1050" dirty="0"/>
          </a:p>
        </p:txBody>
      </p:sp>
      <p:sp>
        <p:nvSpPr>
          <p:cNvPr id="43" name="Text 18"/>
          <p:cNvSpPr/>
          <p:nvPr/>
        </p:nvSpPr>
        <p:spPr>
          <a:xfrm>
            <a:off x="7886700" y="5924550"/>
            <a:ext cx="2057400" cy="381000"/>
          </a:xfrm>
          <a:prstGeom prst="rect">
            <a:avLst/>
          </a:prstGeom>
          <a:noFill/>
          <a:ln/>
        </p:spPr>
        <p:txBody>
          <a:bodyPr wrap="square" lIns="0" tIns="0" rIns="0" bIns="0" rtlCol="0" anchor="t" vert="horz"/>
          <a:lstStyle/>
          <a:p>
            <a:pPr algn="l" marL="342900" indent="-342900">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Chargement du DataFrame nettoyé</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162050"/>
            <a:ext cx="5334000" cy="4457700"/>
          </a:xfrm>
          <a:prstGeom prst="rect">
            <a:avLst/>
          </a:prstGeom>
        </p:spPr>
      </p:pic>
      <p:pic>
        <p:nvPicPr>
          <p:cNvPr id="5" name="Image 3" descr="preencoded.png">    </p:cNvPr>
          <p:cNvPicPr>
            <a:picLocks noChangeAspect="1"/>
          </p:cNvPicPr>
          <p:nvPr/>
        </p:nvPicPr>
        <p:blipFill>
          <a:blip r:embed="rId4"/>
          <a:stretch>
            <a:fillRect/>
          </a:stretch>
        </p:blipFill>
        <p:spPr>
          <a:xfrm>
            <a:off x="838200" y="1428750"/>
            <a:ext cx="285750" cy="228600"/>
          </a:xfrm>
          <a:prstGeom prst="rect">
            <a:avLst/>
          </a:prstGeom>
        </p:spPr>
      </p:pic>
      <p:pic>
        <p:nvPicPr>
          <p:cNvPr id="6" name="Image 4" descr="preencoded.png">    </p:cNvPr>
          <p:cNvPicPr>
            <a:picLocks noChangeAspect="1"/>
          </p:cNvPicPr>
          <p:nvPr/>
        </p:nvPicPr>
        <p:blipFill>
          <a:blip r:embed="rId5"/>
          <a:stretch>
            <a:fillRect/>
          </a:stretch>
        </p:blipFill>
        <p:spPr>
          <a:xfrm>
            <a:off x="838200" y="1809750"/>
            <a:ext cx="4876800" cy="2667000"/>
          </a:xfrm>
          <a:prstGeom prst="rect">
            <a:avLst/>
          </a:prstGeom>
        </p:spPr>
      </p:pic>
      <p:pic>
        <p:nvPicPr>
          <p:cNvPr id="7" name="Image 5" descr="preencoded.png">    </p:cNvPr>
          <p:cNvPicPr>
            <a:picLocks noChangeAspect="1"/>
          </p:cNvPicPr>
          <p:nvPr/>
        </p:nvPicPr>
        <p:blipFill>
          <a:blip r:embed="rId6"/>
          <a:stretch>
            <a:fillRect/>
          </a:stretch>
        </p:blipFill>
        <p:spPr>
          <a:xfrm>
            <a:off x="838200" y="4657725"/>
            <a:ext cx="95250" cy="152400"/>
          </a:xfrm>
          <a:prstGeom prst="rect">
            <a:avLst/>
          </a:prstGeom>
        </p:spPr>
      </p:pic>
      <p:pic>
        <p:nvPicPr>
          <p:cNvPr id="8" name="Image 6" descr="preencoded.png">    </p:cNvPr>
          <p:cNvPicPr>
            <a:picLocks noChangeAspect="1"/>
          </p:cNvPicPr>
          <p:nvPr/>
        </p:nvPicPr>
        <p:blipFill>
          <a:blip r:embed="rId7"/>
          <a:stretch>
            <a:fillRect/>
          </a:stretch>
        </p:blipFill>
        <p:spPr>
          <a:xfrm>
            <a:off x="838200" y="4886325"/>
            <a:ext cx="95250" cy="152400"/>
          </a:xfrm>
          <a:prstGeom prst="rect">
            <a:avLst/>
          </a:prstGeom>
        </p:spPr>
      </p:pic>
      <p:pic>
        <p:nvPicPr>
          <p:cNvPr id="9" name="Image 7" descr="preencoded.png">    </p:cNvPr>
          <p:cNvPicPr>
            <a:picLocks noChangeAspect="1"/>
          </p:cNvPicPr>
          <p:nvPr/>
        </p:nvPicPr>
        <p:blipFill>
          <a:blip r:embed="rId8"/>
          <a:stretch>
            <a:fillRect/>
          </a:stretch>
        </p:blipFill>
        <p:spPr>
          <a:xfrm>
            <a:off x="838200" y="5191125"/>
            <a:ext cx="171450" cy="152400"/>
          </a:xfrm>
          <a:prstGeom prst="rect">
            <a:avLst/>
          </a:prstGeom>
        </p:spPr>
      </p:pic>
      <p:pic>
        <p:nvPicPr>
          <p:cNvPr id="10" name="Image 8" descr="preencoded.png">    </p:cNvPr>
          <p:cNvPicPr>
            <a:picLocks noChangeAspect="1"/>
          </p:cNvPicPr>
          <p:nvPr/>
        </p:nvPicPr>
        <p:blipFill>
          <a:blip r:embed="rId9"/>
          <a:stretch>
            <a:fillRect/>
          </a:stretch>
        </p:blipFill>
        <p:spPr>
          <a:xfrm>
            <a:off x="6248400" y="1162050"/>
            <a:ext cx="5334000" cy="4610100"/>
          </a:xfrm>
          <a:prstGeom prst="rect">
            <a:avLst/>
          </a:prstGeom>
        </p:spPr>
      </p:pic>
      <p:pic>
        <p:nvPicPr>
          <p:cNvPr id="11" name="Image 9" descr="preencoded.png">    </p:cNvPr>
          <p:cNvPicPr>
            <a:picLocks noChangeAspect="1"/>
          </p:cNvPicPr>
          <p:nvPr/>
        </p:nvPicPr>
        <p:blipFill>
          <a:blip r:embed="rId10"/>
          <a:stretch>
            <a:fillRect/>
          </a:stretch>
        </p:blipFill>
        <p:spPr>
          <a:xfrm>
            <a:off x="6477000" y="1428750"/>
            <a:ext cx="285750" cy="228600"/>
          </a:xfrm>
          <a:prstGeom prst="rect">
            <a:avLst/>
          </a:prstGeom>
        </p:spPr>
      </p:pic>
      <p:pic>
        <p:nvPicPr>
          <p:cNvPr id="12" name="Image 10" descr="preencoded.png">    </p:cNvPr>
          <p:cNvPicPr>
            <a:picLocks noChangeAspect="1"/>
          </p:cNvPicPr>
          <p:nvPr/>
        </p:nvPicPr>
        <p:blipFill>
          <a:blip r:embed="rId11"/>
          <a:stretch>
            <a:fillRect/>
          </a:stretch>
        </p:blipFill>
        <p:spPr>
          <a:xfrm>
            <a:off x="6477000" y="1809750"/>
            <a:ext cx="4876800" cy="2667000"/>
          </a:xfrm>
          <a:prstGeom prst="rect">
            <a:avLst/>
          </a:prstGeom>
        </p:spPr>
      </p:pic>
      <p:pic>
        <p:nvPicPr>
          <p:cNvPr id="13" name="Image 11" descr="preencoded.png">    </p:cNvPr>
          <p:cNvPicPr>
            <a:picLocks noChangeAspect="1"/>
          </p:cNvPicPr>
          <p:nvPr/>
        </p:nvPicPr>
        <p:blipFill>
          <a:blip r:embed="rId12"/>
          <a:stretch>
            <a:fillRect/>
          </a:stretch>
        </p:blipFill>
        <p:spPr>
          <a:xfrm>
            <a:off x="6477000" y="4657725"/>
            <a:ext cx="133350" cy="152400"/>
          </a:xfrm>
          <a:prstGeom prst="rect">
            <a:avLst/>
          </a:prstGeom>
        </p:spPr>
      </p:pic>
      <p:pic>
        <p:nvPicPr>
          <p:cNvPr id="14" name="Image 12" descr="preencoded.png">    </p:cNvPr>
          <p:cNvPicPr>
            <a:picLocks noChangeAspect="1"/>
          </p:cNvPicPr>
          <p:nvPr/>
        </p:nvPicPr>
        <p:blipFill>
          <a:blip r:embed="rId13"/>
          <a:stretch>
            <a:fillRect/>
          </a:stretch>
        </p:blipFill>
        <p:spPr>
          <a:xfrm>
            <a:off x="6477000" y="4886325"/>
            <a:ext cx="133350" cy="152400"/>
          </a:xfrm>
          <a:prstGeom prst="rect">
            <a:avLst/>
          </a:prstGeom>
        </p:spPr>
      </p:pic>
      <p:pic>
        <p:nvPicPr>
          <p:cNvPr id="15" name="Image 13" descr="preencoded.png">    </p:cNvPr>
          <p:cNvPicPr>
            <a:picLocks noChangeAspect="1"/>
          </p:cNvPicPr>
          <p:nvPr/>
        </p:nvPicPr>
        <p:blipFill>
          <a:blip r:embed="rId14"/>
          <a:stretch>
            <a:fillRect/>
          </a:stretch>
        </p:blipFill>
        <p:spPr>
          <a:xfrm>
            <a:off x="6477000" y="5114925"/>
            <a:ext cx="152400" cy="152400"/>
          </a:xfrm>
          <a:prstGeom prst="rect">
            <a:avLst/>
          </a:prstGeom>
        </p:spPr>
      </p:pic>
      <p:pic>
        <p:nvPicPr>
          <p:cNvPr id="16" name="Image 14" descr="preencoded.png">    </p:cNvPr>
          <p:cNvPicPr>
            <a:picLocks noChangeAspect="1"/>
          </p:cNvPicPr>
          <p:nvPr/>
        </p:nvPicPr>
        <p:blipFill>
          <a:blip r:embed="rId15"/>
          <a:stretch>
            <a:fillRect/>
          </a:stretch>
        </p:blipFill>
        <p:spPr>
          <a:xfrm>
            <a:off x="6477000" y="5343525"/>
            <a:ext cx="133350" cy="152400"/>
          </a:xfrm>
          <a:prstGeom prst="rect">
            <a:avLst/>
          </a:prstGeom>
        </p:spPr>
      </p:pic>
      <p:sp>
        <p:nvSpPr>
          <p:cNvPr id="17" name="Text 0"/>
          <p:cNvSpPr/>
          <p:nvPr/>
        </p:nvSpPr>
        <p:spPr>
          <a:xfrm>
            <a:off x="609600" y="238125"/>
            <a:ext cx="8243352"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Analyse démographique et revenus</a:t>
            </a:r>
            <a:endParaRPr lang="en-US" sz="2700" dirty="0"/>
          </a:p>
        </p:txBody>
      </p:sp>
      <p:sp>
        <p:nvSpPr>
          <p:cNvPr id="18" name="Text 1"/>
          <p:cNvSpPr/>
          <p:nvPr/>
        </p:nvSpPr>
        <p:spPr>
          <a:xfrm>
            <a:off x="1238250" y="1390650"/>
            <a:ext cx="48768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Revenus par genre</a:t>
            </a:r>
            <a:endParaRPr lang="en-US" sz="1800" dirty="0"/>
          </a:p>
        </p:txBody>
      </p:sp>
      <p:sp>
        <p:nvSpPr>
          <p:cNvPr id="19" name="Text 2"/>
          <p:cNvSpPr/>
          <p:nvPr/>
        </p:nvSpPr>
        <p:spPr>
          <a:xfrm>
            <a:off x="1009650" y="46291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Les hommes génèrent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157 890</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
        <p:nvSpPr>
          <p:cNvPr id="20" name="Text 3"/>
          <p:cNvSpPr/>
          <p:nvPr/>
        </p:nvSpPr>
        <p:spPr>
          <a:xfrm>
            <a:off x="1009650" y="48577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Les femmes génèrent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75 191</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
        <p:nvSpPr>
          <p:cNvPr id="21" name="Text 4"/>
          <p:cNvSpPr/>
          <p:nvPr/>
        </p:nvSpPr>
        <p:spPr>
          <a:xfrm>
            <a:off x="1085850" y="51625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Les hommes représentent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67%</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des revenus totaux</a:t>
            </a:r>
            <a:endParaRPr lang="en-US" sz="1200" dirty="0"/>
          </a:p>
        </p:txBody>
      </p:sp>
      <p:sp>
        <p:nvSpPr>
          <p:cNvPr id="22" name="Text 5"/>
          <p:cNvSpPr/>
          <p:nvPr/>
        </p:nvSpPr>
        <p:spPr>
          <a:xfrm>
            <a:off x="6877050" y="1390650"/>
            <a:ext cx="585216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Revenus par tranche d'âge</a:t>
            </a:r>
            <a:endParaRPr lang="en-US" sz="1800" dirty="0"/>
          </a:p>
        </p:txBody>
      </p:sp>
      <p:sp>
        <p:nvSpPr>
          <p:cNvPr id="23" name="Text 6"/>
          <p:cNvSpPr/>
          <p:nvPr/>
        </p:nvSpPr>
        <p:spPr>
          <a:xfrm>
            <a:off x="6686550" y="46291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Adolescent :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62 143</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
        <p:nvSpPr>
          <p:cNvPr id="24" name="Text 7"/>
          <p:cNvSpPr/>
          <p:nvPr/>
        </p:nvSpPr>
        <p:spPr>
          <a:xfrm>
            <a:off x="6686550" y="48577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Adulte :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59 197</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
        <p:nvSpPr>
          <p:cNvPr id="25" name="Text 8"/>
          <p:cNvSpPr/>
          <p:nvPr/>
        </p:nvSpPr>
        <p:spPr>
          <a:xfrm>
            <a:off x="6705600" y="50863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Jeune adulte :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55 978</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
        <p:nvSpPr>
          <p:cNvPr id="26" name="Text 9"/>
          <p:cNvSpPr/>
          <p:nvPr/>
        </p:nvSpPr>
        <p:spPr>
          <a:xfrm>
            <a:off x="6686550" y="5314950"/>
            <a:ext cx="585216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Personne âgée : </a:t>
            </a:r>
            <a:pPr indent="0" marL="0">
              <a:lnSpc>
                <a:spcPts val="1800"/>
              </a:lnSpc>
              <a:buNone/>
            </a:pPr>
            <a:r>
              <a:rPr lang="en-US" sz="1200" b="1" dirty="0">
                <a:solidFill>
                  <a:srgbClr val="374151"/>
                </a:solidFill>
                <a:latin typeface="ui-sans-serif" pitchFamily="34" charset="0"/>
                <a:ea typeface="ui-sans-serif" pitchFamily="34" charset="-122"/>
                <a:cs typeface="ui-sans-serif" pitchFamily="34" charset="-120"/>
              </a:rPr>
              <a:t>55 763</a:t>
            </a:r>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 d'euros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276350"/>
            <a:ext cx="228600" cy="228600"/>
          </a:xfrm>
          <a:prstGeom prst="rect">
            <a:avLst/>
          </a:prstGeom>
        </p:spPr>
      </p:pic>
      <p:pic>
        <p:nvPicPr>
          <p:cNvPr id="5" name="Image 3" descr="preencoded.png">    </p:cNvPr>
          <p:cNvPicPr>
            <a:picLocks noChangeAspect="1"/>
          </p:cNvPicPr>
          <p:nvPr/>
        </p:nvPicPr>
        <p:blipFill>
          <a:blip r:embed="rId4"/>
          <a:stretch>
            <a:fillRect/>
          </a:stretch>
        </p:blipFill>
        <p:spPr>
          <a:xfrm>
            <a:off x="609600" y="1695450"/>
            <a:ext cx="5181600" cy="2209800"/>
          </a:xfrm>
          <a:prstGeom prst="rect">
            <a:avLst/>
          </a:prstGeom>
        </p:spPr>
      </p:pic>
      <p:pic>
        <p:nvPicPr>
          <p:cNvPr id="6" name="Image 4" descr="preencoded.png">    </p:cNvPr>
          <p:cNvPicPr>
            <a:picLocks noChangeAspect="1"/>
          </p:cNvPicPr>
          <p:nvPr/>
        </p:nvPicPr>
        <p:blipFill>
          <a:blip r:embed="rId5"/>
          <a:stretch>
            <a:fillRect/>
          </a:stretch>
        </p:blipFill>
        <p:spPr>
          <a:xfrm>
            <a:off x="838200" y="1924050"/>
            <a:ext cx="190500" cy="266700"/>
          </a:xfrm>
          <a:prstGeom prst="rect">
            <a:avLst/>
          </a:prstGeom>
        </p:spPr>
      </p:pic>
      <p:pic>
        <p:nvPicPr>
          <p:cNvPr id="7" name="Image 5" descr="preencoded.png">    </p:cNvPr>
          <p:cNvPicPr>
            <a:picLocks noChangeAspect="1"/>
          </p:cNvPicPr>
          <p:nvPr/>
        </p:nvPicPr>
        <p:blipFill>
          <a:blip r:embed="rId6"/>
          <a:stretch>
            <a:fillRect/>
          </a:stretch>
        </p:blipFill>
        <p:spPr>
          <a:xfrm>
            <a:off x="838200" y="2838450"/>
            <a:ext cx="4724400" cy="838200"/>
          </a:xfrm>
          <a:prstGeom prst="rect">
            <a:avLst/>
          </a:prstGeom>
        </p:spPr>
      </p:pic>
      <p:pic>
        <p:nvPicPr>
          <p:cNvPr id="8" name="Image 6" descr="preencoded.png">    </p:cNvPr>
          <p:cNvPicPr>
            <a:picLocks noChangeAspect="1"/>
          </p:cNvPicPr>
          <p:nvPr/>
        </p:nvPicPr>
        <p:blipFill>
          <a:blip r:embed="rId7"/>
          <a:stretch>
            <a:fillRect/>
          </a:stretch>
        </p:blipFill>
        <p:spPr>
          <a:xfrm>
            <a:off x="609600" y="4057650"/>
            <a:ext cx="5181600" cy="1828800"/>
          </a:xfrm>
          <a:prstGeom prst="rect">
            <a:avLst/>
          </a:prstGeom>
        </p:spPr>
      </p:pic>
      <p:pic>
        <p:nvPicPr>
          <p:cNvPr id="9" name="Image 7" descr="preencoded.png">    </p:cNvPr>
          <p:cNvPicPr>
            <a:picLocks noChangeAspect="1"/>
          </p:cNvPicPr>
          <p:nvPr/>
        </p:nvPicPr>
        <p:blipFill>
          <a:blip r:embed="rId8"/>
          <a:stretch>
            <a:fillRect/>
          </a:stretch>
        </p:blipFill>
        <p:spPr>
          <a:xfrm>
            <a:off x="838200" y="4286250"/>
            <a:ext cx="142875" cy="266700"/>
          </a:xfrm>
          <a:prstGeom prst="rect">
            <a:avLst/>
          </a:prstGeom>
        </p:spPr>
      </p:pic>
      <p:pic>
        <p:nvPicPr>
          <p:cNvPr id="10" name="Image 8" descr="preencoded.png">    </p:cNvPr>
          <p:cNvPicPr>
            <a:picLocks noChangeAspect="1"/>
          </p:cNvPicPr>
          <p:nvPr/>
        </p:nvPicPr>
        <p:blipFill>
          <a:blip r:embed="rId9"/>
          <a:stretch>
            <a:fillRect/>
          </a:stretch>
        </p:blipFill>
        <p:spPr>
          <a:xfrm>
            <a:off x="838200" y="4705350"/>
            <a:ext cx="152400" cy="152400"/>
          </a:xfrm>
          <a:prstGeom prst="rect">
            <a:avLst/>
          </a:prstGeom>
        </p:spPr>
      </p:pic>
      <p:pic>
        <p:nvPicPr>
          <p:cNvPr id="11" name="Image 9" descr="preencoded.png">    </p:cNvPr>
          <p:cNvPicPr>
            <a:picLocks noChangeAspect="1"/>
          </p:cNvPicPr>
          <p:nvPr/>
        </p:nvPicPr>
        <p:blipFill>
          <a:blip r:embed="rId10"/>
          <a:stretch>
            <a:fillRect/>
          </a:stretch>
        </p:blipFill>
        <p:spPr>
          <a:xfrm>
            <a:off x="838200" y="5238750"/>
            <a:ext cx="152400" cy="152400"/>
          </a:xfrm>
          <a:prstGeom prst="rect">
            <a:avLst/>
          </a:prstGeom>
        </p:spPr>
      </p:pic>
      <p:pic>
        <p:nvPicPr>
          <p:cNvPr id="12" name="Image 10" descr="preencoded.png">    </p:cNvPr>
          <p:cNvPicPr>
            <a:picLocks noChangeAspect="1"/>
          </p:cNvPicPr>
          <p:nvPr/>
        </p:nvPicPr>
        <p:blipFill>
          <a:blip r:embed="rId11"/>
          <a:stretch>
            <a:fillRect/>
          </a:stretch>
        </p:blipFill>
        <p:spPr>
          <a:xfrm>
            <a:off x="6400800" y="1276350"/>
            <a:ext cx="171450" cy="228600"/>
          </a:xfrm>
          <a:prstGeom prst="rect">
            <a:avLst/>
          </a:prstGeom>
        </p:spPr>
      </p:pic>
      <p:pic>
        <p:nvPicPr>
          <p:cNvPr id="13" name="Image 11" descr="preencoded.png">    </p:cNvPr>
          <p:cNvPicPr>
            <a:picLocks noChangeAspect="1"/>
          </p:cNvPicPr>
          <p:nvPr/>
        </p:nvPicPr>
        <p:blipFill>
          <a:blip r:embed="rId12"/>
          <a:stretch>
            <a:fillRect/>
          </a:stretch>
        </p:blipFill>
        <p:spPr>
          <a:xfrm>
            <a:off x="6400800" y="1695450"/>
            <a:ext cx="5181600" cy="3276600"/>
          </a:xfrm>
          <a:prstGeom prst="rect">
            <a:avLst/>
          </a:prstGeom>
        </p:spPr>
      </p:pic>
      <p:pic>
        <p:nvPicPr>
          <p:cNvPr id="14" name="Image 12" descr="preencoded.png">    </p:cNvPr>
          <p:cNvPicPr>
            <a:picLocks noChangeAspect="1"/>
          </p:cNvPicPr>
          <p:nvPr/>
        </p:nvPicPr>
        <p:blipFill>
          <a:blip r:embed="rId13"/>
          <a:stretch>
            <a:fillRect/>
          </a:stretch>
        </p:blipFill>
        <p:spPr>
          <a:xfrm>
            <a:off x="6629400" y="2305050"/>
            <a:ext cx="4724400" cy="2438400"/>
          </a:xfrm>
          <a:prstGeom prst="rect">
            <a:avLst/>
          </a:prstGeom>
        </p:spPr>
      </p:pic>
      <p:sp>
        <p:nvSpPr>
          <p:cNvPr id="15" name="Text 0"/>
          <p:cNvSpPr/>
          <p:nvPr/>
        </p:nvSpPr>
        <p:spPr>
          <a:xfrm>
            <a:off x="609600" y="238125"/>
            <a:ext cx="7902595"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Comportement d'achat et remises</a:t>
            </a:r>
            <a:endParaRPr lang="en-US" sz="2700" dirty="0"/>
          </a:p>
        </p:txBody>
      </p:sp>
      <p:sp>
        <p:nvSpPr>
          <p:cNvPr id="16" name="Text 1"/>
          <p:cNvSpPr/>
          <p:nvPr/>
        </p:nvSpPr>
        <p:spPr>
          <a:xfrm>
            <a:off x="952500" y="1238250"/>
            <a:ext cx="621792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Clientes dépensiers et remises</a:t>
            </a:r>
            <a:endParaRPr lang="en-US" sz="1800" dirty="0"/>
          </a:p>
        </p:txBody>
      </p:sp>
      <p:sp>
        <p:nvSpPr>
          <p:cNvPr id="17" name="Text 2"/>
          <p:cNvSpPr/>
          <p:nvPr/>
        </p:nvSpPr>
        <p:spPr>
          <a:xfrm>
            <a:off x="1104900" y="1924050"/>
            <a:ext cx="4865965"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Gros dépensiers utilisant des remises</a:t>
            </a:r>
            <a:endParaRPr lang="en-US" sz="1500" dirty="0"/>
          </a:p>
        </p:txBody>
      </p:sp>
      <p:sp>
        <p:nvSpPr>
          <p:cNvPr id="18" name="Text 3"/>
          <p:cNvSpPr/>
          <p:nvPr/>
        </p:nvSpPr>
        <p:spPr>
          <a:xfrm>
            <a:off x="838200" y="2266950"/>
            <a:ext cx="4724400" cy="4572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Analyse des clients ayant utilisé des remises tout en dépensant au-dessus du montant moyen.</a:t>
            </a:r>
            <a:endParaRPr lang="en-US" sz="1200" dirty="0"/>
          </a:p>
        </p:txBody>
      </p:sp>
      <p:sp>
        <p:nvSpPr>
          <p:cNvPr id="19" name="Text 4"/>
          <p:cNvSpPr/>
          <p:nvPr/>
        </p:nvSpPr>
        <p:spPr>
          <a:xfrm>
            <a:off x="930950" y="2990850"/>
            <a:ext cx="715804"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4F46E5"/>
                </a:solidFill>
                <a:latin typeface="ui-sans-serif" pitchFamily="34" charset="0"/>
                <a:ea typeface="ui-sans-serif" pitchFamily="34" charset="-122"/>
                <a:cs typeface="ui-sans-serif" pitchFamily="34" charset="-120"/>
              </a:rPr>
              <a:t>839</a:t>
            </a:r>
            <a:endParaRPr lang="en-US" sz="2250" dirty="0"/>
          </a:p>
        </p:txBody>
      </p:sp>
      <p:sp>
        <p:nvSpPr>
          <p:cNvPr id="20" name="Text 5"/>
          <p:cNvSpPr/>
          <p:nvPr/>
        </p:nvSpPr>
        <p:spPr>
          <a:xfrm>
            <a:off x="930950" y="3333750"/>
            <a:ext cx="715804"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Clients</a:t>
            </a:r>
            <a:endParaRPr lang="en-US" sz="1050" dirty="0"/>
          </a:p>
        </p:txBody>
      </p:sp>
      <p:sp>
        <p:nvSpPr>
          <p:cNvPr id="21" name="Text 6"/>
          <p:cNvSpPr/>
          <p:nvPr/>
        </p:nvSpPr>
        <p:spPr>
          <a:xfrm>
            <a:off x="4253746" y="2990850"/>
            <a:ext cx="1261586"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4F46E5"/>
                </a:solidFill>
                <a:latin typeface="ui-sans-serif" pitchFamily="34" charset="0"/>
                <a:ea typeface="ui-sans-serif" pitchFamily="34" charset="-122"/>
                <a:cs typeface="ui-sans-serif" pitchFamily="34" charset="-120"/>
              </a:rPr>
              <a:t>64$</a:t>
            </a:r>
            <a:endParaRPr lang="en-US" sz="2250" dirty="0"/>
          </a:p>
        </p:txBody>
      </p:sp>
      <p:sp>
        <p:nvSpPr>
          <p:cNvPr id="22" name="Text 7"/>
          <p:cNvSpPr/>
          <p:nvPr/>
        </p:nvSpPr>
        <p:spPr>
          <a:xfrm>
            <a:off x="4253746" y="3333750"/>
            <a:ext cx="1261586"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Montant moyen</a:t>
            </a:r>
            <a:endParaRPr lang="en-US" sz="1050" dirty="0"/>
          </a:p>
        </p:txBody>
      </p:sp>
      <p:sp>
        <p:nvSpPr>
          <p:cNvPr id="23" name="Text 8"/>
          <p:cNvSpPr/>
          <p:nvPr/>
        </p:nvSpPr>
        <p:spPr>
          <a:xfrm>
            <a:off x="1057275" y="4286250"/>
            <a:ext cx="930652" cy="266700"/>
          </a:xfrm>
          <a:prstGeom prst="rect">
            <a:avLst/>
          </a:prstGeom>
          <a:noFill/>
          <a:ln/>
        </p:spPr>
        <p:txBody>
          <a:bodyPr wrap="square" lIns="0" tIns="0" rIns="0" bIns="0" rtlCol="0" anchor="t" vert="horz"/>
          <a:lstStyle/>
          <a:p>
            <a:pP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Insights</a:t>
            </a:r>
            <a:endParaRPr lang="en-US" sz="1350" dirty="0"/>
          </a:p>
        </p:txBody>
      </p:sp>
      <p:sp>
        <p:nvSpPr>
          <p:cNvPr id="24" name="Text 9"/>
          <p:cNvSpPr/>
          <p:nvPr/>
        </p:nvSpPr>
        <p:spPr>
          <a:xfrm>
            <a:off x="1066800" y="4667250"/>
            <a:ext cx="4495800" cy="457200"/>
          </a:xfrm>
          <a:prstGeom prst="rect">
            <a:avLst/>
          </a:prstGeom>
          <a:noFill/>
          <a:ln/>
        </p:spPr>
        <p:txBody>
          <a:bodyPr wrap="square" lIns="0" tIns="0" rIns="0" bIns="0" rtlCol="0" anchor="t" vert="horz"/>
          <a:lstStyle/>
          <a:p>
            <a:pPr algn="l"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Les clients utilisant des remises dépensent souvent plus que la moyenne</a:t>
            </a:r>
            <a:endParaRPr lang="en-US" sz="1200" dirty="0"/>
          </a:p>
        </p:txBody>
      </p:sp>
      <p:sp>
        <p:nvSpPr>
          <p:cNvPr id="25" name="Text 10"/>
          <p:cNvSpPr/>
          <p:nvPr/>
        </p:nvSpPr>
        <p:spPr>
          <a:xfrm>
            <a:off x="1066800" y="5200650"/>
            <a:ext cx="4495800" cy="457200"/>
          </a:xfrm>
          <a:prstGeom prst="rect">
            <a:avLst/>
          </a:prstGeom>
          <a:noFill/>
          <a:ln/>
        </p:spPr>
        <p:txBody>
          <a:bodyPr wrap="square" lIns="0" tIns="0" rIns="0" bIns="0" rtlCol="0" anchor="t" vert="horz"/>
          <a:lstStyle/>
          <a:p>
            <a:pPr algn="l"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Les remises semblent être un facteur d'incitation à des achats plus importants</a:t>
            </a:r>
            <a:endParaRPr lang="en-US" sz="1200" dirty="0"/>
          </a:p>
        </p:txBody>
      </p:sp>
      <p:sp>
        <p:nvSpPr>
          <p:cNvPr id="26" name="Text 11"/>
          <p:cNvSpPr/>
          <p:nvPr/>
        </p:nvSpPr>
        <p:spPr>
          <a:xfrm>
            <a:off x="6686550" y="1238250"/>
            <a:ext cx="621792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Produits dépendants des remises</a:t>
            </a:r>
            <a:endParaRPr lang="en-US" sz="1800" dirty="0"/>
          </a:p>
        </p:txBody>
      </p:sp>
      <p:sp>
        <p:nvSpPr>
          <p:cNvPr id="27" name="Text 12"/>
          <p:cNvSpPr/>
          <p:nvPr/>
        </p:nvSpPr>
        <p:spPr>
          <a:xfrm>
            <a:off x="6629400" y="1924050"/>
            <a:ext cx="5669280"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Pourcentage de produits achetés avec remise par catégorie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162050"/>
            <a:ext cx="5334000" cy="4381500"/>
          </a:xfrm>
          <a:prstGeom prst="rect">
            <a:avLst/>
          </a:prstGeom>
        </p:spPr>
      </p:pic>
      <p:pic>
        <p:nvPicPr>
          <p:cNvPr id="5" name="Image 3" descr="preencoded.png">    </p:cNvPr>
          <p:cNvPicPr>
            <a:picLocks noChangeAspect="1"/>
          </p:cNvPicPr>
          <p:nvPr/>
        </p:nvPicPr>
        <p:blipFill>
          <a:blip r:embed="rId4"/>
          <a:stretch>
            <a:fillRect/>
          </a:stretch>
        </p:blipFill>
        <p:spPr>
          <a:xfrm>
            <a:off x="838200" y="1428750"/>
            <a:ext cx="257175" cy="228600"/>
          </a:xfrm>
          <a:prstGeom prst="rect">
            <a:avLst/>
          </a:prstGeom>
        </p:spPr>
      </p:pic>
      <p:pic>
        <p:nvPicPr>
          <p:cNvPr id="6" name="Image 4" descr="preencoded.png">    </p:cNvPr>
          <p:cNvPicPr>
            <a:picLocks noChangeAspect="1"/>
          </p:cNvPicPr>
          <p:nvPr/>
        </p:nvPicPr>
        <p:blipFill>
          <a:blip r:embed="rId5"/>
          <a:stretch>
            <a:fillRect/>
          </a:stretch>
        </p:blipFill>
        <p:spPr>
          <a:xfrm>
            <a:off x="838200" y="1847850"/>
            <a:ext cx="4762500" cy="2381250"/>
          </a:xfrm>
          <a:prstGeom prst="rect">
            <a:avLst/>
          </a:prstGeom>
        </p:spPr>
      </p:pic>
      <p:pic>
        <p:nvPicPr>
          <p:cNvPr id="7" name="Image 5" descr="preencoded.png">    </p:cNvPr>
          <p:cNvPicPr>
            <a:picLocks noChangeAspect="1"/>
          </p:cNvPicPr>
          <p:nvPr/>
        </p:nvPicPr>
        <p:blipFill>
          <a:blip r:embed="rId6"/>
          <a:stretch>
            <a:fillRect/>
          </a:stretch>
        </p:blipFill>
        <p:spPr>
          <a:xfrm>
            <a:off x="6248400" y="1162050"/>
            <a:ext cx="5334000" cy="4381500"/>
          </a:xfrm>
          <a:prstGeom prst="rect">
            <a:avLst/>
          </a:prstGeom>
        </p:spPr>
      </p:pic>
      <p:pic>
        <p:nvPicPr>
          <p:cNvPr id="8" name="Image 6" descr="preencoded.png">    </p:cNvPr>
          <p:cNvPicPr>
            <a:picLocks noChangeAspect="1"/>
          </p:cNvPicPr>
          <p:nvPr/>
        </p:nvPicPr>
        <p:blipFill>
          <a:blip r:embed="rId7"/>
          <a:stretch>
            <a:fillRect/>
          </a:stretch>
        </p:blipFill>
        <p:spPr>
          <a:xfrm>
            <a:off x="6477000" y="1581150"/>
            <a:ext cx="285750" cy="228600"/>
          </a:xfrm>
          <a:prstGeom prst="rect">
            <a:avLst/>
          </a:prstGeom>
        </p:spPr>
      </p:pic>
      <p:pic>
        <p:nvPicPr>
          <p:cNvPr id="9" name="Image 7" descr="preencoded.png">    </p:cNvPr>
          <p:cNvPicPr>
            <a:picLocks noChangeAspect="1"/>
          </p:cNvPicPr>
          <p:nvPr/>
        </p:nvPicPr>
        <p:blipFill>
          <a:blip r:embed="rId8"/>
          <a:stretch>
            <a:fillRect/>
          </a:stretch>
        </p:blipFill>
        <p:spPr>
          <a:xfrm>
            <a:off x="6477000" y="2228850"/>
            <a:ext cx="2362200" cy="1866900"/>
          </a:xfrm>
          <a:prstGeom prst="rect">
            <a:avLst/>
          </a:prstGeom>
        </p:spPr>
      </p:pic>
      <p:pic>
        <p:nvPicPr>
          <p:cNvPr id="10" name="Image 8" descr="preencoded.png">    </p:cNvPr>
          <p:cNvPicPr>
            <a:picLocks noChangeAspect="1"/>
          </p:cNvPicPr>
          <p:nvPr/>
        </p:nvPicPr>
        <p:blipFill>
          <a:blip r:embed="rId9"/>
          <a:stretch>
            <a:fillRect/>
          </a:stretch>
        </p:blipFill>
        <p:spPr>
          <a:xfrm>
            <a:off x="7443788" y="2381250"/>
            <a:ext cx="428625" cy="381000"/>
          </a:xfrm>
          <a:prstGeom prst="rect">
            <a:avLst/>
          </a:prstGeom>
        </p:spPr>
      </p:pic>
      <p:pic>
        <p:nvPicPr>
          <p:cNvPr id="11" name="Image 9" descr="preencoded.png">    </p:cNvPr>
          <p:cNvPicPr>
            <a:picLocks noChangeAspect="1"/>
          </p:cNvPicPr>
          <p:nvPr/>
        </p:nvPicPr>
        <p:blipFill>
          <a:blip r:embed="rId10"/>
          <a:stretch>
            <a:fillRect/>
          </a:stretch>
        </p:blipFill>
        <p:spPr>
          <a:xfrm>
            <a:off x="8991600" y="2228850"/>
            <a:ext cx="2362200" cy="1866900"/>
          </a:xfrm>
          <a:prstGeom prst="rect">
            <a:avLst/>
          </a:prstGeom>
        </p:spPr>
      </p:pic>
      <p:pic>
        <p:nvPicPr>
          <p:cNvPr id="12" name="Image 10" descr="preencoded.png">    </p:cNvPr>
          <p:cNvPicPr>
            <a:picLocks noChangeAspect="1"/>
          </p:cNvPicPr>
          <p:nvPr/>
        </p:nvPicPr>
        <p:blipFill>
          <a:blip r:embed="rId11"/>
          <a:stretch>
            <a:fillRect/>
          </a:stretch>
        </p:blipFill>
        <p:spPr>
          <a:xfrm>
            <a:off x="9958388" y="2381250"/>
            <a:ext cx="428625" cy="381000"/>
          </a:xfrm>
          <a:prstGeom prst="rect">
            <a:avLst/>
          </a:prstGeom>
        </p:spPr>
      </p:pic>
      <p:pic>
        <p:nvPicPr>
          <p:cNvPr id="13" name="Image 11" descr="preencoded.png">    </p:cNvPr>
          <p:cNvPicPr>
            <a:picLocks noChangeAspect="1"/>
          </p:cNvPicPr>
          <p:nvPr/>
        </p:nvPicPr>
        <p:blipFill>
          <a:blip r:embed="rId12"/>
          <a:stretch>
            <a:fillRect/>
          </a:stretch>
        </p:blipFill>
        <p:spPr>
          <a:xfrm>
            <a:off x="6477000" y="4324350"/>
            <a:ext cx="4876800" cy="990600"/>
          </a:xfrm>
          <a:prstGeom prst="rect">
            <a:avLst/>
          </a:prstGeom>
        </p:spPr>
      </p:pic>
      <p:pic>
        <p:nvPicPr>
          <p:cNvPr id="14" name="Image 12" descr="preencoded.png">    </p:cNvPr>
          <p:cNvPicPr>
            <a:picLocks noChangeAspect="1"/>
          </p:cNvPicPr>
          <p:nvPr/>
        </p:nvPicPr>
        <p:blipFill>
          <a:blip r:embed="rId13"/>
          <a:stretch>
            <a:fillRect/>
          </a:stretch>
        </p:blipFill>
        <p:spPr>
          <a:xfrm>
            <a:off x="6629400" y="4514850"/>
            <a:ext cx="114300" cy="152400"/>
          </a:xfrm>
          <a:prstGeom prst="rect">
            <a:avLst/>
          </a:prstGeom>
        </p:spPr>
      </p:pic>
      <p:sp>
        <p:nvSpPr>
          <p:cNvPr id="15" name="Text 0"/>
          <p:cNvSpPr/>
          <p:nvPr/>
        </p:nvSpPr>
        <p:spPr>
          <a:xfrm>
            <a:off x="609600" y="238125"/>
            <a:ext cx="8545711"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Performance produits et satisfaction</a:t>
            </a:r>
            <a:endParaRPr lang="en-US" sz="2700" dirty="0"/>
          </a:p>
        </p:txBody>
      </p:sp>
      <p:sp>
        <p:nvSpPr>
          <p:cNvPr id="16" name="Text 1"/>
          <p:cNvSpPr/>
          <p:nvPr/>
        </p:nvSpPr>
        <p:spPr>
          <a:xfrm>
            <a:off x="1209675" y="1390650"/>
            <a:ext cx="585216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Top 5 des produits les mieux notés</a:t>
            </a:r>
            <a:endParaRPr lang="en-US" sz="1800" dirty="0"/>
          </a:p>
        </p:txBody>
      </p:sp>
      <p:sp>
        <p:nvSpPr>
          <p:cNvPr id="17" name="Text 2"/>
          <p:cNvSpPr/>
          <p:nvPr/>
        </p:nvSpPr>
        <p:spPr>
          <a:xfrm>
            <a:off x="838200" y="4667250"/>
            <a:ext cx="4876800" cy="190500"/>
          </a:xfrm>
          <a:prstGeom prst="rect">
            <a:avLst/>
          </a:prstGeom>
          <a:noFill/>
          <a:ln/>
        </p:spPr>
        <p:txBody>
          <a:bodyPr wrap="square" lIns="0" tIns="0" rIns="0" bIns="0" rtlCol="0" anchor="t" vert="horz"/>
          <a:lstStyle/>
          <a:p>
            <a:pPr algn="ctr" indent="0" marL="0">
              <a:lnSpc>
                <a:spcPts val="1500"/>
              </a:lnSpc>
              <a:buNone/>
            </a:pPr>
            <a:r>
              <a:rPr lang="en-US" sz="1050" i="1" dirty="0">
                <a:solidFill>
                  <a:srgbClr val="6B7280"/>
                </a:solidFill>
                <a:latin typeface="ui-sans-serif" pitchFamily="34" charset="0"/>
                <a:ea typeface="ui-sans-serif" pitchFamily="34" charset="-122"/>
                <a:cs typeface="ui-sans-serif" pitchFamily="34" charset="-120"/>
              </a:rPr>
              <a:t>Note moyenne par produit</a:t>
            </a:r>
            <a:endParaRPr lang="en-US" sz="1050" dirty="0"/>
          </a:p>
        </p:txBody>
      </p:sp>
      <p:sp>
        <p:nvSpPr>
          <p:cNvPr id="18" name="Text 3"/>
          <p:cNvSpPr/>
          <p:nvPr/>
        </p:nvSpPr>
        <p:spPr>
          <a:xfrm>
            <a:off x="6877050" y="1390650"/>
            <a:ext cx="4876800" cy="6096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Comparaison des types de livraison</a:t>
            </a:r>
            <a:endParaRPr lang="en-US" sz="1800" dirty="0"/>
          </a:p>
        </p:txBody>
      </p:sp>
      <p:sp>
        <p:nvSpPr>
          <p:cNvPr id="19" name="Text 4"/>
          <p:cNvSpPr/>
          <p:nvPr/>
        </p:nvSpPr>
        <p:spPr>
          <a:xfrm>
            <a:off x="6629400" y="2838450"/>
            <a:ext cx="2057400" cy="266700"/>
          </a:xfrm>
          <a:prstGeom prst="rect">
            <a:avLst/>
          </a:prstGeom>
          <a:noFill/>
          <a:ln/>
        </p:spPr>
        <p:txBody>
          <a:bodyPr wrap="square" lIns="0" tIns="0" rIns="0" bIns="0" rtlCol="0" anchor="t" vert="horz"/>
          <a:lstStyle/>
          <a:p>
            <a:pPr algn="ctr" indent="0" marL="0">
              <a:lnSpc>
                <a:spcPts val="2100"/>
              </a:lnSpc>
              <a:buNone/>
            </a:pPr>
            <a:r>
              <a:rPr lang="en-US" sz="1500" dirty="0">
                <a:solidFill>
                  <a:srgbClr val="374151"/>
                </a:solidFill>
                <a:latin typeface="ui-sans-serif" pitchFamily="34" charset="0"/>
                <a:ea typeface="ui-sans-serif" pitchFamily="34" charset="-122"/>
                <a:cs typeface="ui-sans-serif" pitchFamily="34" charset="-120"/>
              </a:rPr>
              <a:t>Standard</a:t>
            </a:r>
            <a:endParaRPr lang="en-US" sz="1500" dirty="0"/>
          </a:p>
        </p:txBody>
      </p:sp>
      <p:sp>
        <p:nvSpPr>
          <p:cNvPr id="20" name="Text 5"/>
          <p:cNvSpPr/>
          <p:nvPr/>
        </p:nvSpPr>
        <p:spPr>
          <a:xfrm>
            <a:off x="6423660" y="3181350"/>
            <a:ext cx="2468880"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4338CA"/>
                </a:solidFill>
                <a:latin typeface="ui-sans-serif" pitchFamily="34" charset="0"/>
                <a:ea typeface="ui-sans-serif" pitchFamily="34" charset="-122"/>
                <a:cs typeface="ui-sans-serif" pitchFamily="34" charset="-120"/>
              </a:rPr>
              <a:t>58,46€</a:t>
            </a:r>
            <a:endParaRPr lang="en-US" sz="2250" dirty="0"/>
          </a:p>
        </p:txBody>
      </p:sp>
      <p:sp>
        <p:nvSpPr>
          <p:cNvPr id="21" name="Text 6"/>
          <p:cNvSpPr/>
          <p:nvPr/>
        </p:nvSpPr>
        <p:spPr>
          <a:xfrm>
            <a:off x="6629400" y="3562350"/>
            <a:ext cx="20574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6B7280"/>
                </a:solidFill>
                <a:latin typeface="ui-sans-serif" pitchFamily="34" charset="0"/>
                <a:ea typeface="ui-sans-serif" pitchFamily="34" charset="-122"/>
                <a:cs typeface="ui-sans-serif" pitchFamily="34" charset="-120"/>
              </a:rPr>
              <a:t>Montant moyen par commande</a:t>
            </a:r>
            <a:endParaRPr lang="en-US" sz="1050" dirty="0"/>
          </a:p>
        </p:txBody>
      </p:sp>
      <p:sp>
        <p:nvSpPr>
          <p:cNvPr id="22" name="Text 7"/>
          <p:cNvSpPr/>
          <p:nvPr/>
        </p:nvSpPr>
        <p:spPr>
          <a:xfrm>
            <a:off x="9144000" y="2838450"/>
            <a:ext cx="2057400" cy="266700"/>
          </a:xfrm>
          <a:prstGeom prst="rect">
            <a:avLst/>
          </a:prstGeom>
          <a:noFill/>
          <a:ln/>
        </p:spPr>
        <p:txBody>
          <a:bodyPr wrap="square" lIns="0" tIns="0" rIns="0" bIns="0" rtlCol="0" anchor="t" vert="horz"/>
          <a:lstStyle/>
          <a:p>
            <a:pPr algn="ctr" indent="0" marL="0">
              <a:lnSpc>
                <a:spcPts val="2100"/>
              </a:lnSpc>
              <a:buNone/>
            </a:pPr>
            <a:r>
              <a:rPr lang="en-US" sz="1500" dirty="0">
                <a:solidFill>
                  <a:srgbClr val="374151"/>
                </a:solidFill>
                <a:latin typeface="ui-sans-serif" pitchFamily="34" charset="0"/>
                <a:ea typeface="ui-sans-serif" pitchFamily="34" charset="-122"/>
                <a:cs typeface="ui-sans-serif" pitchFamily="34" charset="-120"/>
              </a:rPr>
              <a:t>Express</a:t>
            </a:r>
            <a:endParaRPr lang="en-US" sz="1500" dirty="0"/>
          </a:p>
        </p:txBody>
      </p:sp>
      <p:sp>
        <p:nvSpPr>
          <p:cNvPr id="23" name="Text 8"/>
          <p:cNvSpPr/>
          <p:nvPr/>
        </p:nvSpPr>
        <p:spPr>
          <a:xfrm>
            <a:off x="8938260" y="3181350"/>
            <a:ext cx="2468880"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F97316"/>
                </a:solidFill>
                <a:latin typeface="ui-sans-serif" pitchFamily="34" charset="0"/>
                <a:ea typeface="ui-sans-serif" pitchFamily="34" charset="-122"/>
                <a:cs typeface="ui-sans-serif" pitchFamily="34" charset="-120"/>
              </a:rPr>
              <a:t>60,48€</a:t>
            </a:r>
            <a:endParaRPr lang="en-US" sz="2250" dirty="0"/>
          </a:p>
        </p:txBody>
      </p:sp>
      <p:sp>
        <p:nvSpPr>
          <p:cNvPr id="24" name="Text 9"/>
          <p:cNvSpPr/>
          <p:nvPr/>
        </p:nvSpPr>
        <p:spPr>
          <a:xfrm>
            <a:off x="9144000" y="3562350"/>
            <a:ext cx="20574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6B7280"/>
                </a:solidFill>
                <a:latin typeface="ui-sans-serif" pitchFamily="34" charset="0"/>
                <a:ea typeface="ui-sans-serif" pitchFamily="34" charset="-122"/>
                <a:cs typeface="ui-sans-serif" pitchFamily="34" charset="-120"/>
              </a:rPr>
              <a:t>Montant moyen par commande</a:t>
            </a:r>
            <a:endParaRPr lang="en-US" sz="1050" dirty="0"/>
          </a:p>
        </p:txBody>
      </p:sp>
      <p:sp>
        <p:nvSpPr>
          <p:cNvPr id="25" name="Text 10"/>
          <p:cNvSpPr/>
          <p:nvPr/>
        </p:nvSpPr>
        <p:spPr>
          <a:xfrm>
            <a:off x="6819900" y="4476750"/>
            <a:ext cx="4572000" cy="6858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Les clients choisissant la livraison express dépensent en moyenne 3,4% de plus par commande que ceux optant pour la livraison standard.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200150"/>
            <a:ext cx="285750" cy="228600"/>
          </a:xfrm>
          <a:prstGeom prst="rect">
            <a:avLst/>
          </a:prstGeom>
        </p:spPr>
      </p:pic>
      <p:pic>
        <p:nvPicPr>
          <p:cNvPr id="5" name="Image 3" descr="preencoded.png">    </p:cNvPr>
          <p:cNvPicPr>
            <a:picLocks noChangeAspect="1"/>
          </p:cNvPicPr>
          <p:nvPr/>
        </p:nvPicPr>
        <p:blipFill>
          <a:blip r:embed="rId4"/>
          <a:stretch>
            <a:fillRect/>
          </a:stretch>
        </p:blipFill>
        <p:spPr>
          <a:xfrm>
            <a:off x="609600" y="1619250"/>
            <a:ext cx="5257800" cy="1638300"/>
          </a:xfrm>
          <a:prstGeom prst="rect">
            <a:avLst/>
          </a:prstGeom>
        </p:spPr>
      </p:pic>
      <p:pic>
        <p:nvPicPr>
          <p:cNvPr id="6" name="Image 4" descr="preencoded.png">    </p:cNvPr>
          <p:cNvPicPr>
            <a:picLocks noChangeAspect="1"/>
          </p:cNvPicPr>
          <p:nvPr/>
        </p:nvPicPr>
        <p:blipFill>
          <a:blip r:embed="rId5"/>
          <a:stretch>
            <a:fillRect/>
          </a:stretch>
        </p:blipFill>
        <p:spPr>
          <a:xfrm>
            <a:off x="800100" y="2152650"/>
            <a:ext cx="4876800" cy="342900"/>
          </a:xfrm>
          <a:prstGeom prst="rect">
            <a:avLst/>
          </a:prstGeom>
        </p:spPr>
      </p:pic>
      <p:pic>
        <p:nvPicPr>
          <p:cNvPr id="7" name="Image 5" descr="preencoded.png">    </p:cNvPr>
          <p:cNvPicPr>
            <a:picLocks noChangeAspect="1"/>
          </p:cNvPicPr>
          <p:nvPr/>
        </p:nvPicPr>
        <p:blipFill>
          <a:blip r:embed="rId6"/>
          <a:stretch>
            <a:fillRect/>
          </a:stretch>
        </p:blipFill>
        <p:spPr>
          <a:xfrm>
            <a:off x="800100" y="2190750"/>
            <a:ext cx="152400" cy="152400"/>
          </a:xfrm>
          <a:prstGeom prst="rect">
            <a:avLst/>
          </a:prstGeom>
        </p:spPr>
      </p:pic>
      <p:pic>
        <p:nvPicPr>
          <p:cNvPr id="8" name="Image 6" descr="preencoded.png">    </p:cNvPr>
          <p:cNvPicPr>
            <a:picLocks noChangeAspect="1"/>
          </p:cNvPicPr>
          <p:nvPr/>
        </p:nvPicPr>
        <p:blipFill>
          <a:blip r:embed="rId7"/>
          <a:stretch>
            <a:fillRect/>
          </a:stretch>
        </p:blipFill>
        <p:spPr>
          <a:xfrm>
            <a:off x="800100" y="2762250"/>
            <a:ext cx="152400" cy="152400"/>
          </a:xfrm>
          <a:prstGeom prst="rect">
            <a:avLst/>
          </a:prstGeom>
        </p:spPr>
      </p:pic>
      <p:pic>
        <p:nvPicPr>
          <p:cNvPr id="9" name="Image 7" descr="preencoded.png">    </p:cNvPr>
          <p:cNvPicPr>
            <a:picLocks noChangeAspect="1"/>
          </p:cNvPicPr>
          <p:nvPr/>
        </p:nvPicPr>
        <p:blipFill>
          <a:blip r:embed="rId8"/>
          <a:stretch>
            <a:fillRect/>
          </a:stretch>
        </p:blipFill>
        <p:spPr>
          <a:xfrm>
            <a:off x="609600" y="3409950"/>
            <a:ext cx="5257800" cy="1333500"/>
          </a:xfrm>
          <a:prstGeom prst="rect">
            <a:avLst/>
          </a:prstGeom>
        </p:spPr>
      </p:pic>
      <p:pic>
        <p:nvPicPr>
          <p:cNvPr id="10" name="Image 8" descr="preencoded.png">    </p:cNvPr>
          <p:cNvPicPr>
            <a:picLocks noChangeAspect="1"/>
          </p:cNvPicPr>
          <p:nvPr/>
        </p:nvPicPr>
        <p:blipFill>
          <a:blip r:embed="rId9"/>
          <a:stretch>
            <a:fillRect/>
          </a:stretch>
        </p:blipFill>
        <p:spPr>
          <a:xfrm>
            <a:off x="6324600" y="1200150"/>
            <a:ext cx="285750" cy="228600"/>
          </a:xfrm>
          <a:prstGeom prst="rect">
            <a:avLst/>
          </a:prstGeom>
        </p:spPr>
      </p:pic>
      <p:pic>
        <p:nvPicPr>
          <p:cNvPr id="11" name="Image 9" descr="preencoded.png">    </p:cNvPr>
          <p:cNvPicPr>
            <a:picLocks noChangeAspect="1"/>
          </p:cNvPicPr>
          <p:nvPr/>
        </p:nvPicPr>
        <p:blipFill>
          <a:blip r:embed="rId10"/>
          <a:stretch>
            <a:fillRect/>
          </a:stretch>
        </p:blipFill>
        <p:spPr>
          <a:xfrm>
            <a:off x="6324600" y="1619250"/>
            <a:ext cx="4762500" cy="2381250"/>
          </a:xfrm>
          <a:prstGeom prst="rect">
            <a:avLst/>
          </a:prstGeom>
        </p:spPr>
      </p:pic>
      <p:pic>
        <p:nvPicPr>
          <p:cNvPr id="12" name="Image 10" descr="preencoded.png">    </p:cNvPr>
          <p:cNvPicPr>
            <a:picLocks noChangeAspect="1"/>
          </p:cNvPicPr>
          <p:nvPr/>
        </p:nvPicPr>
        <p:blipFill>
          <a:blip r:embed="rId11"/>
          <a:stretch>
            <a:fillRect/>
          </a:stretch>
        </p:blipFill>
        <p:spPr>
          <a:xfrm>
            <a:off x="6324600" y="4152900"/>
            <a:ext cx="1650950" cy="1562100"/>
          </a:xfrm>
          <a:prstGeom prst="rect">
            <a:avLst/>
          </a:prstGeom>
        </p:spPr>
      </p:pic>
      <p:pic>
        <p:nvPicPr>
          <p:cNvPr id="13" name="Image 11" descr="preencoded.png">    </p:cNvPr>
          <p:cNvPicPr>
            <a:picLocks noChangeAspect="1"/>
          </p:cNvPicPr>
          <p:nvPr/>
        </p:nvPicPr>
        <p:blipFill>
          <a:blip r:embed="rId12"/>
          <a:stretch>
            <a:fillRect/>
          </a:stretch>
        </p:blipFill>
        <p:spPr>
          <a:xfrm>
            <a:off x="7585025" y="4305300"/>
            <a:ext cx="238125" cy="266700"/>
          </a:xfrm>
          <a:prstGeom prst="rect">
            <a:avLst/>
          </a:prstGeom>
        </p:spPr>
      </p:pic>
      <p:pic>
        <p:nvPicPr>
          <p:cNvPr id="14" name="Image 12" descr="preencoded.png">    </p:cNvPr>
          <p:cNvPicPr>
            <a:picLocks noChangeAspect="1"/>
          </p:cNvPicPr>
          <p:nvPr/>
        </p:nvPicPr>
        <p:blipFill>
          <a:blip r:embed="rId13"/>
          <a:stretch>
            <a:fillRect/>
          </a:stretch>
        </p:blipFill>
        <p:spPr>
          <a:xfrm>
            <a:off x="8127950" y="4152900"/>
            <a:ext cx="1650950" cy="1562100"/>
          </a:xfrm>
          <a:prstGeom prst="rect">
            <a:avLst/>
          </a:prstGeom>
        </p:spPr>
      </p:pic>
      <p:pic>
        <p:nvPicPr>
          <p:cNvPr id="15" name="Image 13" descr="preencoded.png">    </p:cNvPr>
          <p:cNvPicPr>
            <a:picLocks noChangeAspect="1"/>
          </p:cNvPicPr>
          <p:nvPr/>
        </p:nvPicPr>
        <p:blipFill>
          <a:blip r:embed="rId14"/>
          <a:stretch>
            <a:fillRect/>
          </a:stretch>
        </p:blipFill>
        <p:spPr>
          <a:xfrm>
            <a:off x="9388376" y="4305300"/>
            <a:ext cx="238125" cy="266700"/>
          </a:xfrm>
          <a:prstGeom prst="rect">
            <a:avLst/>
          </a:prstGeom>
        </p:spPr>
      </p:pic>
      <p:pic>
        <p:nvPicPr>
          <p:cNvPr id="16" name="Image 14" descr="preencoded.png">    </p:cNvPr>
          <p:cNvPicPr>
            <a:picLocks noChangeAspect="1"/>
          </p:cNvPicPr>
          <p:nvPr/>
        </p:nvPicPr>
        <p:blipFill>
          <a:blip r:embed="rId15"/>
          <a:stretch>
            <a:fillRect/>
          </a:stretch>
        </p:blipFill>
        <p:spPr>
          <a:xfrm>
            <a:off x="9931301" y="4152900"/>
            <a:ext cx="1650950" cy="1562100"/>
          </a:xfrm>
          <a:prstGeom prst="rect">
            <a:avLst/>
          </a:prstGeom>
        </p:spPr>
      </p:pic>
      <p:pic>
        <p:nvPicPr>
          <p:cNvPr id="17" name="Image 15" descr="preencoded.png">    </p:cNvPr>
          <p:cNvPicPr>
            <a:picLocks noChangeAspect="1"/>
          </p:cNvPicPr>
          <p:nvPr/>
        </p:nvPicPr>
        <p:blipFill>
          <a:blip r:embed="rId16"/>
          <a:stretch>
            <a:fillRect/>
          </a:stretch>
        </p:blipFill>
        <p:spPr>
          <a:xfrm>
            <a:off x="11191726" y="4305300"/>
            <a:ext cx="238125" cy="266700"/>
          </a:xfrm>
          <a:prstGeom prst="rect">
            <a:avLst/>
          </a:prstGeom>
        </p:spPr>
      </p:pic>
      <p:sp>
        <p:nvSpPr>
          <p:cNvPr id="18" name="Text 0"/>
          <p:cNvSpPr/>
          <p:nvPr/>
        </p:nvSpPr>
        <p:spPr>
          <a:xfrm>
            <a:off x="609600" y="238125"/>
            <a:ext cx="8300323"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Segmentation et fidélisation clients</a:t>
            </a:r>
            <a:endParaRPr lang="en-US" sz="2700" dirty="0"/>
          </a:p>
        </p:txBody>
      </p:sp>
      <p:sp>
        <p:nvSpPr>
          <p:cNvPr id="19" name="Text 1"/>
          <p:cNvSpPr/>
          <p:nvPr/>
        </p:nvSpPr>
        <p:spPr>
          <a:xfrm>
            <a:off x="1009650" y="1162050"/>
            <a:ext cx="630936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Abonnés vs Non-abonnés</a:t>
            </a:r>
            <a:endParaRPr lang="en-US" sz="1800" dirty="0"/>
          </a:p>
        </p:txBody>
      </p:sp>
      <p:sp>
        <p:nvSpPr>
          <p:cNvPr id="20" name="Text 2"/>
          <p:cNvSpPr/>
          <p:nvPr/>
        </p:nvSpPr>
        <p:spPr>
          <a:xfrm>
            <a:off x="800100" y="1809750"/>
            <a:ext cx="1669137"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Nombre de clients</a:t>
            </a:r>
            <a:endParaRPr lang="en-US" sz="1200" dirty="0"/>
          </a:p>
        </p:txBody>
      </p:sp>
      <p:sp>
        <p:nvSpPr>
          <p:cNvPr id="21" name="Text 3"/>
          <p:cNvSpPr/>
          <p:nvPr/>
        </p:nvSpPr>
        <p:spPr>
          <a:xfrm>
            <a:off x="2928193" y="1809750"/>
            <a:ext cx="1253371"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Panier moyen</a:t>
            </a:r>
            <a:endParaRPr lang="en-US" sz="1200" dirty="0"/>
          </a:p>
        </p:txBody>
      </p:sp>
      <p:sp>
        <p:nvSpPr>
          <p:cNvPr id="22" name="Text 4"/>
          <p:cNvSpPr/>
          <p:nvPr/>
        </p:nvSpPr>
        <p:spPr>
          <a:xfrm>
            <a:off x="4709815" y="1809750"/>
            <a:ext cx="1160324" cy="228600"/>
          </a:xfrm>
          <a:prstGeom prst="rect">
            <a:avLst/>
          </a:prstGeom>
          <a:noFill/>
          <a:ln/>
        </p:spPr>
        <p:txBody>
          <a:bodyPr wrap="square" lIns="0" tIns="0" rIns="0" bIns="0" rtlCol="0" anchor="t" vert="horz"/>
          <a:lstStyle/>
          <a:p>
            <a:pPr indent="0" marL="0">
              <a:lnSpc>
                <a:spcPts val="1800"/>
              </a:lnSpc>
              <a:buNone/>
            </a:pPr>
            <a:r>
              <a:rPr lang="en-US" sz="1200" dirty="0">
                <a:solidFill>
                  <a:srgbClr val="374151"/>
                </a:solidFill>
                <a:latin typeface="ui-sans-serif" pitchFamily="34" charset="0"/>
                <a:ea typeface="ui-sans-serif" pitchFamily="34" charset="-122"/>
                <a:cs typeface="ui-sans-serif" pitchFamily="34" charset="-120"/>
              </a:rPr>
              <a:t>Revenu total</a:t>
            </a:r>
            <a:endParaRPr lang="en-US" sz="1200" dirty="0"/>
          </a:p>
        </p:txBody>
      </p:sp>
      <p:sp>
        <p:nvSpPr>
          <p:cNvPr id="23" name="Text 5"/>
          <p:cNvSpPr/>
          <p:nvPr/>
        </p:nvSpPr>
        <p:spPr>
          <a:xfrm>
            <a:off x="1028700" y="2152650"/>
            <a:ext cx="792778" cy="228600"/>
          </a:xfrm>
          <a:prstGeom prst="rect">
            <a:avLst/>
          </a:prstGeom>
          <a:noFill/>
          <a:ln/>
        </p:spPr>
        <p:txBody>
          <a:bodyPr wrap="square" lIns="0" tIns="0" rIns="0" bIns="0" rtlCol="0" anchor="t" vert="horz"/>
          <a:lstStyle/>
          <a:p>
            <a:pP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Abonnés</a:t>
            </a:r>
            <a:endParaRPr lang="en-US" sz="1200" dirty="0"/>
          </a:p>
        </p:txBody>
      </p:sp>
      <p:sp>
        <p:nvSpPr>
          <p:cNvPr id="24" name="Text 6"/>
          <p:cNvSpPr/>
          <p:nvPr/>
        </p:nvSpPr>
        <p:spPr>
          <a:xfrm>
            <a:off x="2019300" y="2152650"/>
            <a:ext cx="12192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1053</a:t>
            </a:r>
            <a:endParaRPr lang="en-US" sz="1200" dirty="0"/>
          </a:p>
        </p:txBody>
      </p:sp>
      <p:sp>
        <p:nvSpPr>
          <p:cNvPr id="25" name="Text 7"/>
          <p:cNvSpPr/>
          <p:nvPr/>
        </p:nvSpPr>
        <p:spPr>
          <a:xfrm>
            <a:off x="3116580" y="2152650"/>
            <a:ext cx="146304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59,49€</a:t>
            </a:r>
            <a:endParaRPr lang="en-US" sz="1200" dirty="0"/>
          </a:p>
        </p:txBody>
      </p:sp>
      <p:sp>
        <p:nvSpPr>
          <p:cNvPr id="26" name="Text 8"/>
          <p:cNvSpPr/>
          <p:nvPr/>
        </p:nvSpPr>
        <p:spPr>
          <a:xfrm>
            <a:off x="4335780" y="2152650"/>
            <a:ext cx="146304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62 645€</a:t>
            </a:r>
            <a:endParaRPr lang="en-US" sz="1200" dirty="0"/>
          </a:p>
        </p:txBody>
      </p:sp>
      <p:sp>
        <p:nvSpPr>
          <p:cNvPr id="27" name="Text 9"/>
          <p:cNvSpPr/>
          <p:nvPr/>
        </p:nvSpPr>
        <p:spPr>
          <a:xfrm>
            <a:off x="1028700" y="2609850"/>
            <a:ext cx="990600" cy="457200"/>
          </a:xfrm>
          <a:prstGeom prst="rect">
            <a:avLst/>
          </a:prstGeom>
          <a:noFill/>
          <a:ln/>
        </p:spPr>
        <p:txBody>
          <a:bodyPr wrap="square" lIns="0" tIns="0" rIns="0" bIns="0" rtlCol="0" anchor="t" vert="horz"/>
          <a:lstStyle/>
          <a:p>
            <a:pP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Non-abonnés</a:t>
            </a:r>
            <a:endParaRPr lang="en-US" sz="1200" dirty="0"/>
          </a:p>
        </p:txBody>
      </p:sp>
      <p:sp>
        <p:nvSpPr>
          <p:cNvPr id="28" name="Text 10"/>
          <p:cNvSpPr/>
          <p:nvPr/>
        </p:nvSpPr>
        <p:spPr>
          <a:xfrm>
            <a:off x="2019300" y="2724150"/>
            <a:ext cx="12192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2847</a:t>
            </a:r>
            <a:endParaRPr lang="en-US" sz="1200" dirty="0"/>
          </a:p>
        </p:txBody>
      </p:sp>
      <p:sp>
        <p:nvSpPr>
          <p:cNvPr id="29" name="Text 11"/>
          <p:cNvSpPr/>
          <p:nvPr/>
        </p:nvSpPr>
        <p:spPr>
          <a:xfrm>
            <a:off x="3116580" y="2724150"/>
            <a:ext cx="146304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59,87€</a:t>
            </a:r>
            <a:endParaRPr lang="en-US" sz="1200" dirty="0"/>
          </a:p>
        </p:txBody>
      </p:sp>
      <p:sp>
        <p:nvSpPr>
          <p:cNvPr id="30" name="Text 12"/>
          <p:cNvSpPr/>
          <p:nvPr/>
        </p:nvSpPr>
        <p:spPr>
          <a:xfrm>
            <a:off x="4335780" y="2724150"/>
            <a:ext cx="146304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000000"/>
                </a:solidFill>
                <a:latin typeface="ui-sans-serif" pitchFamily="34" charset="0"/>
                <a:ea typeface="ui-sans-serif" pitchFamily="34" charset="-122"/>
                <a:cs typeface="ui-sans-serif" pitchFamily="34" charset="-120"/>
              </a:rPr>
              <a:t>170 436€</a:t>
            </a:r>
            <a:endParaRPr lang="en-US" sz="1200" dirty="0"/>
          </a:p>
        </p:txBody>
      </p:sp>
      <p:sp>
        <p:nvSpPr>
          <p:cNvPr id="31" name="Text 13"/>
          <p:cNvSpPr/>
          <p:nvPr/>
        </p:nvSpPr>
        <p:spPr>
          <a:xfrm>
            <a:off x="762000" y="3562350"/>
            <a:ext cx="4953000" cy="266700"/>
          </a:xfrm>
          <a:prstGeom prst="rect">
            <a:avLst/>
          </a:prstGeom>
          <a:noFill/>
          <a:ln/>
        </p:spPr>
        <p:txBody>
          <a:bodyPr wrap="square" lIns="0" tIns="0" rIns="0" bIns="0" rtlCol="0" anchor="t" vert="horz"/>
          <a:lstStyle/>
          <a:p>
            <a:pPr indent="0" marL="0">
              <a:lnSpc>
                <a:spcPts val="2100"/>
              </a:lnSpc>
              <a:buNone/>
            </a:pPr>
            <a:r>
              <a:rPr lang="en-US" sz="1350" dirty="0">
                <a:solidFill>
                  <a:srgbClr val="3730A3"/>
                </a:solidFill>
                <a:latin typeface="ui-sans-serif" pitchFamily="34" charset="0"/>
                <a:ea typeface="ui-sans-serif" pitchFamily="34" charset="-122"/>
                <a:cs typeface="ui-sans-serif" pitchFamily="34" charset="-120"/>
              </a:rPr>
              <a:t>Key Insights</a:t>
            </a:r>
            <a:endParaRPr lang="en-US" sz="1350" dirty="0"/>
          </a:p>
        </p:txBody>
      </p:sp>
      <p:sp>
        <p:nvSpPr>
          <p:cNvPr id="32" name="Text 14"/>
          <p:cNvSpPr/>
          <p:nvPr/>
        </p:nvSpPr>
        <p:spPr>
          <a:xfrm>
            <a:off x="762000" y="3905250"/>
            <a:ext cx="5943600" cy="228600"/>
          </a:xfrm>
          <a:prstGeom prst="rect">
            <a:avLst/>
          </a:prstGeom>
          <a:noFill/>
          <a:ln/>
        </p:spPr>
        <p:txBody>
          <a:bodyPr wrap="square" lIns="0" tIns="0" rIns="0" bIns="0" rtlCol="0" anchor="t" vert="horz"/>
          <a:lstStyle/>
          <a:p>
            <a:pPr algn="l" marL="342900" indent="-342900">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Les non-abonnés génèrent plus de revenus au total</a:t>
            </a:r>
            <a:endParaRPr lang="en-US" sz="1200" dirty="0"/>
          </a:p>
        </p:txBody>
      </p:sp>
      <p:sp>
        <p:nvSpPr>
          <p:cNvPr id="33" name="Text 15"/>
          <p:cNvSpPr/>
          <p:nvPr/>
        </p:nvSpPr>
        <p:spPr>
          <a:xfrm>
            <a:off x="762000" y="4133850"/>
            <a:ext cx="5943600" cy="228600"/>
          </a:xfrm>
          <a:prstGeom prst="rect">
            <a:avLst/>
          </a:prstGeom>
          <a:noFill/>
          <a:ln/>
        </p:spPr>
        <p:txBody>
          <a:bodyPr wrap="square" lIns="0" tIns="0" rIns="0" bIns="0" rtlCol="0" anchor="t" vert="horz"/>
          <a:lstStyle/>
          <a:p>
            <a:pPr algn="l" marL="342900" indent="-342900">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Les abonnés montrent une fidélité plus élevée</a:t>
            </a:r>
            <a:endParaRPr lang="en-US" sz="1200" dirty="0"/>
          </a:p>
        </p:txBody>
      </p:sp>
      <p:sp>
        <p:nvSpPr>
          <p:cNvPr id="34" name="Text 16"/>
          <p:cNvSpPr/>
          <p:nvPr/>
        </p:nvSpPr>
        <p:spPr>
          <a:xfrm>
            <a:off x="762000" y="4362450"/>
            <a:ext cx="5943600" cy="228600"/>
          </a:xfrm>
          <a:prstGeom prst="rect">
            <a:avLst/>
          </a:prstGeom>
          <a:noFill/>
          <a:ln/>
        </p:spPr>
        <p:txBody>
          <a:bodyPr wrap="square" lIns="0" tIns="0" rIns="0" bIns="0" rtlCol="0" anchor="t" vert="horz"/>
          <a:lstStyle/>
          <a:p>
            <a:pPr algn="l" marL="342900" indent="-342900">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Les deux groupes ont des paniers moyens similaires</a:t>
            </a:r>
            <a:endParaRPr lang="en-US" sz="1200" dirty="0"/>
          </a:p>
        </p:txBody>
      </p:sp>
      <p:sp>
        <p:nvSpPr>
          <p:cNvPr id="35" name="Text 17"/>
          <p:cNvSpPr/>
          <p:nvPr/>
        </p:nvSpPr>
        <p:spPr>
          <a:xfrm>
            <a:off x="6724650" y="1162050"/>
            <a:ext cx="6309360" cy="304800"/>
          </a:xfrm>
          <a:prstGeom prst="rect">
            <a:avLst/>
          </a:prstGeom>
          <a:noFill/>
          <a:ln/>
        </p:spPr>
        <p:txBody>
          <a:bodyPr wrap="square" lIns="0" tIns="0" rIns="0" bIns="0" rtlCol="0" anchor="t" vert="horz"/>
          <a:lstStyle/>
          <a:p>
            <a:pPr indent="0" marL="0">
              <a:lnSpc>
                <a:spcPts val="2400"/>
              </a:lnSpc>
              <a:buNone/>
            </a:pPr>
            <a:r>
              <a:rPr lang="en-US" sz="1800" b="1" dirty="0">
                <a:solidFill>
                  <a:srgbClr val="3730A3"/>
                </a:solidFill>
                <a:latin typeface="ui-sans-serif" pitchFamily="34" charset="0"/>
                <a:ea typeface="ui-sans-serif" pitchFamily="34" charset="-122"/>
                <a:cs typeface="ui-sans-serif" pitchFamily="34" charset="-120"/>
              </a:rPr>
              <a:t>Classification des clients</a:t>
            </a:r>
            <a:endParaRPr lang="en-US" sz="1800" dirty="0"/>
          </a:p>
        </p:txBody>
      </p:sp>
      <p:sp>
        <p:nvSpPr>
          <p:cNvPr id="36" name="Text 18"/>
          <p:cNvSpPr/>
          <p:nvPr/>
        </p:nvSpPr>
        <p:spPr>
          <a:xfrm>
            <a:off x="6477000" y="4305300"/>
            <a:ext cx="1019056" cy="266700"/>
          </a:xfrm>
          <a:prstGeom prst="rect">
            <a:avLst/>
          </a:prstGeom>
          <a:noFill/>
          <a:ln/>
        </p:spPr>
        <p:txBody>
          <a:bodyPr wrap="square" lIns="0" tIns="0" rIns="0" bIns="0" rtlCol="0" anchor="t" vert="horz"/>
          <a:lstStyle/>
          <a:p>
            <a:pP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Nouveau</a:t>
            </a:r>
            <a:endParaRPr lang="en-US" sz="1350" dirty="0"/>
          </a:p>
        </p:txBody>
      </p:sp>
      <p:sp>
        <p:nvSpPr>
          <p:cNvPr id="37" name="Text 19"/>
          <p:cNvSpPr/>
          <p:nvPr/>
        </p:nvSpPr>
        <p:spPr>
          <a:xfrm>
            <a:off x="6477000" y="4648200"/>
            <a:ext cx="1346150" cy="381000"/>
          </a:xfrm>
          <a:prstGeom prst="rect">
            <a:avLst/>
          </a:prstGeom>
          <a:noFill/>
          <a:ln/>
        </p:spPr>
        <p:txBody>
          <a:bodyPr wrap="square" lIns="0" tIns="0" rIns="0" bIns="0" rtlCol="0" anchor="t" vert="horz"/>
          <a:lstStyle/>
          <a:p>
            <a:pP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Clients qui ont effectué 1-2 achats</a:t>
            </a:r>
            <a:endParaRPr lang="en-US" sz="1050" dirty="0"/>
          </a:p>
        </p:txBody>
      </p:sp>
      <p:sp>
        <p:nvSpPr>
          <p:cNvPr id="38" name="Text 20"/>
          <p:cNvSpPr/>
          <p:nvPr/>
        </p:nvSpPr>
        <p:spPr>
          <a:xfrm>
            <a:off x="6477000" y="5105400"/>
            <a:ext cx="1346150" cy="457200"/>
          </a:xfrm>
          <a:prstGeom prst="rect">
            <a:avLst/>
          </a:prstGeom>
          <a:noFill/>
          <a:ln/>
        </p:spPr>
        <p:txBody>
          <a:bodyPr wrap="square" lIns="0" tIns="0" rIns="0" bIns="0" rtlCol="0" anchor="t" vert="horz"/>
          <a:lstStyle/>
          <a:p>
            <a:pPr indent="0" marL="0">
              <a:lnSpc>
                <a:spcPts val="1800"/>
              </a:lnSpc>
              <a:buNone/>
            </a:pPr>
            <a:r>
              <a:rPr lang="en-US" sz="1200" b="1" dirty="0">
                <a:solidFill>
                  <a:srgbClr val="2563EB"/>
                </a:solidFill>
                <a:latin typeface="ui-sans-serif" pitchFamily="34" charset="0"/>
                <a:ea typeface="ui-sans-serif" pitchFamily="34" charset="-122"/>
                <a:cs typeface="ui-sans-serif" pitchFamily="34" charset="-120"/>
              </a:rPr>
              <a:t>83 clients (2,1%)</a:t>
            </a:r>
            <a:endParaRPr lang="en-US" sz="1200" dirty="0"/>
          </a:p>
        </p:txBody>
      </p:sp>
      <p:sp>
        <p:nvSpPr>
          <p:cNvPr id="39" name="Text 21"/>
          <p:cNvSpPr/>
          <p:nvPr/>
        </p:nvSpPr>
        <p:spPr>
          <a:xfrm>
            <a:off x="8280350" y="4305300"/>
            <a:ext cx="1153716" cy="266700"/>
          </a:xfrm>
          <a:prstGeom prst="rect">
            <a:avLst/>
          </a:prstGeom>
          <a:noFill/>
          <a:ln/>
        </p:spPr>
        <p:txBody>
          <a:bodyPr wrap="square" lIns="0" tIns="0" rIns="0" bIns="0" rtlCol="0" anchor="t" vert="horz"/>
          <a:lstStyle/>
          <a:p>
            <a:pP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Récurrent</a:t>
            </a:r>
            <a:endParaRPr lang="en-US" sz="1350" dirty="0"/>
          </a:p>
        </p:txBody>
      </p:sp>
      <p:sp>
        <p:nvSpPr>
          <p:cNvPr id="40" name="Text 22"/>
          <p:cNvSpPr/>
          <p:nvPr/>
        </p:nvSpPr>
        <p:spPr>
          <a:xfrm>
            <a:off x="8280350" y="4648200"/>
            <a:ext cx="1346150" cy="381000"/>
          </a:xfrm>
          <a:prstGeom prst="rect">
            <a:avLst/>
          </a:prstGeom>
          <a:noFill/>
          <a:ln/>
        </p:spPr>
        <p:txBody>
          <a:bodyPr wrap="square" lIns="0" tIns="0" rIns="0" bIns="0" rtlCol="0" anchor="t" vert="horz"/>
          <a:lstStyle/>
          <a:p>
            <a:pP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Clients qui ont effectué 3-5 achats</a:t>
            </a:r>
            <a:endParaRPr lang="en-US" sz="1050" dirty="0"/>
          </a:p>
        </p:txBody>
      </p:sp>
      <p:sp>
        <p:nvSpPr>
          <p:cNvPr id="41" name="Text 23"/>
          <p:cNvSpPr/>
          <p:nvPr/>
        </p:nvSpPr>
        <p:spPr>
          <a:xfrm>
            <a:off x="8280350" y="5105400"/>
            <a:ext cx="1346150" cy="457200"/>
          </a:xfrm>
          <a:prstGeom prst="rect">
            <a:avLst/>
          </a:prstGeom>
          <a:noFill/>
          <a:ln/>
        </p:spPr>
        <p:txBody>
          <a:bodyPr wrap="square" lIns="0" tIns="0" rIns="0" bIns="0" rtlCol="0" anchor="t" vert="horz"/>
          <a:lstStyle/>
          <a:p>
            <a:pPr indent="0" marL="0">
              <a:lnSpc>
                <a:spcPts val="1800"/>
              </a:lnSpc>
              <a:buNone/>
            </a:pPr>
            <a:r>
              <a:rPr lang="en-US" sz="1200" b="1" dirty="0">
                <a:solidFill>
                  <a:srgbClr val="16A34A"/>
                </a:solidFill>
                <a:latin typeface="ui-sans-serif" pitchFamily="34" charset="0"/>
                <a:ea typeface="ui-sans-serif" pitchFamily="34" charset="-122"/>
                <a:cs typeface="ui-sans-serif" pitchFamily="34" charset="-120"/>
              </a:rPr>
              <a:t>701 clients (17,9%)</a:t>
            </a:r>
            <a:endParaRPr lang="en-US" sz="1200" dirty="0"/>
          </a:p>
        </p:txBody>
      </p:sp>
      <p:sp>
        <p:nvSpPr>
          <p:cNvPr id="42" name="Text 24"/>
          <p:cNvSpPr/>
          <p:nvPr/>
        </p:nvSpPr>
        <p:spPr>
          <a:xfrm>
            <a:off x="10083701" y="4305300"/>
            <a:ext cx="707946" cy="266700"/>
          </a:xfrm>
          <a:prstGeom prst="rect">
            <a:avLst/>
          </a:prstGeom>
          <a:noFill/>
          <a:ln/>
        </p:spPr>
        <p:txBody>
          <a:bodyPr wrap="square" lIns="0" tIns="0" rIns="0" bIns="0" rtlCol="0" anchor="t" vert="horz"/>
          <a:lstStyle/>
          <a:p>
            <a:pPr indent="0" marL="0">
              <a:lnSpc>
                <a:spcPts val="2100"/>
              </a:lnSpc>
              <a:buNone/>
            </a:pPr>
            <a:r>
              <a:rPr lang="en-US" sz="1350" b="1" dirty="0">
                <a:solidFill>
                  <a:srgbClr val="1F2937"/>
                </a:solidFill>
                <a:latin typeface="ui-sans-serif" pitchFamily="34" charset="0"/>
                <a:ea typeface="ui-sans-serif" pitchFamily="34" charset="-122"/>
                <a:cs typeface="ui-sans-serif" pitchFamily="34" charset="-120"/>
              </a:rPr>
              <a:t>Fidèle</a:t>
            </a:r>
            <a:endParaRPr lang="en-US" sz="1350" dirty="0"/>
          </a:p>
        </p:txBody>
      </p:sp>
      <p:sp>
        <p:nvSpPr>
          <p:cNvPr id="43" name="Text 25"/>
          <p:cNvSpPr/>
          <p:nvPr/>
        </p:nvSpPr>
        <p:spPr>
          <a:xfrm>
            <a:off x="10083701" y="4648200"/>
            <a:ext cx="1346150" cy="381000"/>
          </a:xfrm>
          <a:prstGeom prst="rect">
            <a:avLst/>
          </a:prstGeom>
          <a:noFill/>
          <a:ln/>
        </p:spPr>
        <p:txBody>
          <a:bodyPr wrap="square" lIns="0" tIns="0" rIns="0" bIns="0" rtlCol="0" anchor="t" vert="horz"/>
          <a:lstStyle/>
          <a:p>
            <a:pPr indent="0" marL="0">
              <a:lnSpc>
                <a:spcPts val="1500"/>
              </a:lnSpc>
              <a:buNone/>
            </a:pPr>
            <a:r>
              <a:rPr lang="en-US" sz="1050" dirty="0">
                <a:solidFill>
                  <a:srgbClr val="4B5563"/>
                </a:solidFill>
                <a:latin typeface="ui-sans-serif" pitchFamily="34" charset="0"/>
                <a:ea typeface="ui-sans-serif" pitchFamily="34" charset="-122"/>
                <a:cs typeface="ui-sans-serif" pitchFamily="34" charset="-120"/>
              </a:rPr>
              <a:t>Clients qui ont effectué 6+ achats</a:t>
            </a:r>
            <a:endParaRPr lang="en-US" sz="1050" dirty="0"/>
          </a:p>
        </p:txBody>
      </p:sp>
      <p:sp>
        <p:nvSpPr>
          <p:cNvPr id="44" name="Text 26"/>
          <p:cNvSpPr/>
          <p:nvPr/>
        </p:nvSpPr>
        <p:spPr>
          <a:xfrm>
            <a:off x="10083701" y="5105400"/>
            <a:ext cx="1346150" cy="457200"/>
          </a:xfrm>
          <a:prstGeom prst="rect">
            <a:avLst/>
          </a:prstGeom>
          <a:noFill/>
          <a:ln/>
        </p:spPr>
        <p:txBody>
          <a:bodyPr wrap="square" lIns="0" tIns="0" rIns="0" bIns="0" rtlCol="0" anchor="t" vert="horz"/>
          <a:lstStyle/>
          <a:p>
            <a:pPr indent="0" marL="0">
              <a:lnSpc>
                <a:spcPts val="1800"/>
              </a:lnSpc>
              <a:buNone/>
            </a:pPr>
            <a:r>
              <a:rPr lang="en-US" sz="1200" b="1" dirty="0">
                <a:solidFill>
                  <a:srgbClr val="EA580C"/>
                </a:solidFill>
                <a:latin typeface="ui-sans-serif" pitchFamily="34" charset="0"/>
                <a:ea typeface="ui-sans-serif" pitchFamily="34" charset="-122"/>
                <a:cs typeface="ui-sans-serif" pitchFamily="34" charset="-120"/>
              </a:rPr>
              <a:t>3116 clients (79,9%)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2190750"/>
            <a:ext cx="3530501" cy="1714500"/>
          </a:xfrm>
          <a:prstGeom prst="rect">
            <a:avLst/>
          </a:prstGeom>
        </p:spPr>
      </p:pic>
      <p:pic>
        <p:nvPicPr>
          <p:cNvPr id="5" name="Image 3" descr="preencoded.png">    </p:cNvPr>
          <p:cNvPicPr>
            <a:picLocks noChangeAspect="1"/>
          </p:cNvPicPr>
          <p:nvPr/>
        </p:nvPicPr>
        <p:blipFill>
          <a:blip r:embed="rId4"/>
          <a:stretch>
            <a:fillRect/>
          </a:stretch>
        </p:blipFill>
        <p:spPr>
          <a:xfrm>
            <a:off x="800100" y="2381250"/>
            <a:ext cx="285750" cy="304800"/>
          </a:xfrm>
          <a:prstGeom prst="rect">
            <a:avLst/>
          </a:prstGeom>
        </p:spPr>
      </p:pic>
      <p:pic>
        <p:nvPicPr>
          <p:cNvPr id="6" name="Image 4" descr="preencoded.png">    </p:cNvPr>
          <p:cNvPicPr>
            <a:picLocks noChangeAspect="1"/>
          </p:cNvPicPr>
          <p:nvPr/>
        </p:nvPicPr>
        <p:blipFill>
          <a:blip r:embed="rId5"/>
          <a:stretch>
            <a:fillRect/>
          </a:stretch>
        </p:blipFill>
        <p:spPr>
          <a:xfrm>
            <a:off x="4330601" y="2190750"/>
            <a:ext cx="3530650" cy="1714500"/>
          </a:xfrm>
          <a:prstGeom prst="rect">
            <a:avLst/>
          </a:prstGeom>
        </p:spPr>
      </p:pic>
      <p:pic>
        <p:nvPicPr>
          <p:cNvPr id="7" name="Image 5" descr="preencoded.png">    </p:cNvPr>
          <p:cNvPicPr>
            <a:picLocks noChangeAspect="1"/>
          </p:cNvPicPr>
          <p:nvPr/>
        </p:nvPicPr>
        <p:blipFill>
          <a:blip r:embed="rId6"/>
          <a:stretch>
            <a:fillRect/>
          </a:stretch>
        </p:blipFill>
        <p:spPr>
          <a:xfrm>
            <a:off x="4521101" y="2381250"/>
            <a:ext cx="257175" cy="304800"/>
          </a:xfrm>
          <a:prstGeom prst="rect">
            <a:avLst/>
          </a:prstGeom>
        </p:spPr>
      </p:pic>
      <p:pic>
        <p:nvPicPr>
          <p:cNvPr id="8" name="Image 6" descr="preencoded.png">    </p:cNvPr>
          <p:cNvPicPr>
            <a:picLocks noChangeAspect="1"/>
          </p:cNvPicPr>
          <p:nvPr/>
        </p:nvPicPr>
        <p:blipFill>
          <a:blip r:embed="rId7"/>
          <a:stretch>
            <a:fillRect/>
          </a:stretch>
        </p:blipFill>
        <p:spPr>
          <a:xfrm>
            <a:off x="8051750" y="2190750"/>
            <a:ext cx="3530501" cy="1714500"/>
          </a:xfrm>
          <a:prstGeom prst="rect">
            <a:avLst/>
          </a:prstGeom>
        </p:spPr>
      </p:pic>
      <p:pic>
        <p:nvPicPr>
          <p:cNvPr id="9" name="Image 7" descr="preencoded.png">    </p:cNvPr>
          <p:cNvPicPr>
            <a:picLocks noChangeAspect="1"/>
          </p:cNvPicPr>
          <p:nvPr/>
        </p:nvPicPr>
        <p:blipFill>
          <a:blip r:embed="rId8"/>
          <a:stretch>
            <a:fillRect/>
          </a:stretch>
        </p:blipFill>
        <p:spPr>
          <a:xfrm>
            <a:off x="8242250" y="2381250"/>
            <a:ext cx="257175" cy="304800"/>
          </a:xfrm>
          <a:prstGeom prst="rect">
            <a:avLst/>
          </a:prstGeom>
        </p:spPr>
      </p:pic>
      <p:pic>
        <p:nvPicPr>
          <p:cNvPr id="10" name="Image 8" descr="preencoded.png">    </p:cNvPr>
          <p:cNvPicPr>
            <a:picLocks noChangeAspect="1"/>
          </p:cNvPicPr>
          <p:nvPr/>
        </p:nvPicPr>
        <p:blipFill>
          <a:blip r:embed="rId9"/>
          <a:stretch>
            <a:fillRect/>
          </a:stretch>
        </p:blipFill>
        <p:spPr>
          <a:xfrm>
            <a:off x="609600" y="4095750"/>
            <a:ext cx="3530501" cy="1943100"/>
          </a:xfrm>
          <a:prstGeom prst="rect">
            <a:avLst/>
          </a:prstGeom>
        </p:spPr>
      </p:pic>
      <p:pic>
        <p:nvPicPr>
          <p:cNvPr id="11" name="Image 9" descr="preencoded.png">    </p:cNvPr>
          <p:cNvPicPr>
            <a:picLocks noChangeAspect="1"/>
          </p:cNvPicPr>
          <p:nvPr/>
        </p:nvPicPr>
        <p:blipFill>
          <a:blip r:embed="rId10"/>
          <a:stretch>
            <a:fillRect/>
          </a:stretch>
        </p:blipFill>
        <p:spPr>
          <a:xfrm>
            <a:off x="800100" y="4286250"/>
            <a:ext cx="257175" cy="304800"/>
          </a:xfrm>
          <a:prstGeom prst="rect">
            <a:avLst/>
          </a:prstGeom>
        </p:spPr>
      </p:pic>
      <p:pic>
        <p:nvPicPr>
          <p:cNvPr id="12" name="Image 10" descr="preencoded.png">    </p:cNvPr>
          <p:cNvPicPr>
            <a:picLocks noChangeAspect="1"/>
          </p:cNvPicPr>
          <p:nvPr/>
        </p:nvPicPr>
        <p:blipFill>
          <a:blip r:embed="rId11"/>
          <a:stretch>
            <a:fillRect/>
          </a:stretch>
        </p:blipFill>
        <p:spPr>
          <a:xfrm>
            <a:off x="4330601" y="4095750"/>
            <a:ext cx="3530650" cy="1943100"/>
          </a:xfrm>
          <a:prstGeom prst="rect">
            <a:avLst/>
          </a:prstGeom>
        </p:spPr>
      </p:pic>
      <p:pic>
        <p:nvPicPr>
          <p:cNvPr id="13" name="Image 11" descr="preencoded.png">    </p:cNvPr>
          <p:cNvPicPr>
            <a:picLocks noChangeAspect="1"/>
          </p:cNvPicPr>
          <p:nvPr/>
        </p:nvPicPr>
        <p:blipFill>
          <a:blip r:embed="rId12"/>
          <a:stretch>
            <a:fillRect/>
          </a:stretch>
        </p:blipFill>
        <p:spPr>
          <a:xfrm>
            <a:off x="4521101" y="4286250"/>
            <a:ext cx="228600" cy="304800"/>
          </a:xfrm>
          <a:prstGeom prst="rect">
            <a:avLst/>
          </a:prstGeom>
        </p:spPr>
      </p:pic>
      <p:pic>
        <p:nvPicPr>
          <p:cNvPr id="14" name="Image 12" descr="preencoded.png">    </p:cNvPr>
          <p:cNvPicPr>
            <a:picLocks noChangeAspect="1"/>
          </p:cNvPicPr>
          <p:nvPr/>
        </p:nvPicPr>
        <p:blipFill>
          <a:blip r:embed="rId13"/>
          <a:stretch>
            <a:fillRect/>
          </a:stretch>
        </p:blipFill>
        <p:spPr>
          <a:xfrm>
            <a:off x="8051750" y="4095750"/>
            <a:ext cx="3530501" cy="1943100"/>
          </a:xfrm>
          <a:prstGeom prst="rect">
            <a:avLst/>
          </a:prstGeom>
        </p:spPr>
      </p:pic>
      <p:pic>
        <p:nvPicPr>
          <p:cNvPr id="15" name="Image 13" descr="preencoded.png">    </p:cNvPr>
          <p:cNvPicPr>
            <a:picLocks noChangeAspect="1"/>
          </p:cNvPicPr>
          <p:nvPr/>
        </p:nvPicPr>
        <p:blipFill>
          <a:blip r:embed="rId14"/>
          <a:stretch>
            <a:fillRect/>
          </a:stretch>
        </p:blipFill>
        <p:spPr>
          <a:xfrm>
            <a:off x="8242250" y="4286250"/>
            <a:ext cx="228600" cy="304800"/>
          </a:xfrm>
          <a:prstGeom prst="rect">
            <a:avLst/>
          </a:prstGeom>
        </p:spPr>
      </p:pic>
      <p:pic>
        <p:nvPicPr>
          <p:cNvPr id="16" name="Image 14" descr="preencoded.png">    </p:cNvPr>
          <p:cNvPicPr>
            <a:picLocks noChangeAspect="1"/>
          </p:cNvPicPr>
          <p:nvPr/>
        </p:nvPicPr>
        <p:blipFill>
          <a:blip r:embed="rId15"/>
          <a:stretch>
            <a:fillRect/>
          </a:stretch>
        </p:blipFill>
        <p:spPr>
          <a:xfrm>
            <a:off x="2416969" y="6353175"/>
            <a:ext cx="152400" cy="152400"/>
          </a:xfrm>
          <a:prstGeom prst="rect">
            <a:avLst/>
          </a:prstGeom>
        </p:spPr>
      </p:pic>
      <p:sp>
        <p:nvSpPr>
          <p:cNvPr id="17" name="Text 0"/>
          <p:cNvSpPr/>
          <p:nvPr/>
        </p:nvSpPr>
        <p:spPr>
          <a:xfrm>
            <a:off x="609600" y="238125"/>
            <a:ext cx="5925205"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Tableau de bord Power BI</a:t>
            </a:r>
            <a:endParaRPr lang="en-US" sz="2700" dirty="0"/>
          </a:p>
        </p:txBody>
      </p:sp>
      <p:sp>
        <p:nvSpPr>
          <p:cNvPr id="18" name="Text 1"/>
          <p:cNvSpPr/>
          <p:nvPr/>
        </p:nvSpPr>
        <p:spPr>
          <a:xfrm>
            <a:off x="609600" y="1162050"/>
            <a:ext cx="10972800" cy="800100"/>
          </a:xfrm>
          <a:prstGeom prst="rect">
            <a:avLst/>
          </a:prstGeom>
          <a:noFill/>
          <a:ln/>
        </p:spPr>
        <p:txBody>
          <a:bodyPr wrap="square" lIns="0" tIns="0" rIns="0" bIns="0" rtlCol="0" anchor="t" vert="horz"/>
          <a:lstStyle/>
          <a:p>
            <a:pPr indent="0" marL="0">
              <a:lnSpc>
                <a:spcPts val="2100"/>
              </a:lnSpc>
              <a:buNone/>
            </a:pPr>
            <a:r>
              <a:rPr lang="en-US" sz="1350" dirty="0">
                <a:solidFill>
                  <a:srgbClr val="374151"/>
                </a:solidFill>
                <a:latin typeface="ui-sans-serif" pitchFamily="34" charset="0"/>
                <a:ea typeface="ui-sans-serif" pitchFamily="34" charset="-122"/>
                <a:cs typeface="ui-sans-serif" pitchFamily="34" charset="-120"/>
              </a:rPr>
              <a:t>Nous avons construit un tableau de bord interactif dans Power BI pour visualiser les insights de l'analyse du comportement d'achat des clients. Ce dashboard permet d'explorer les données de manière intuitive et de tirer des conclusions pour guider les décisions stratégiques.</a:t>
            </a:r>
            <a:endParaRPr lang="en-US" sz="1350" dirty="0"/>
          </a:p>
        </p:txBody>
      </p:sp>
      <p:sp>
        <p:nvSpPr>
          <p:cNvPr id="19" name="Text 2"/>
          <p:cNvSpPr/>
          <p:nvPr/>
        </p:nvSpPr>
        <p:spPr>
          <a:xfrm>
            <a:off x="1200150" y="2400300"/>
            <a:ext cx="3122712"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Analyse démographique</a:t>
            </a:r>
            <a:endParaRPr lang="en-US" sz="1500" dirty="0"/>
          </a:p>
        </p:txBody>
      </p:sp>
      <p:sp>
        <p:nvSpPr>
          <p:cNvPr id="20" name="Text 3"/>
          <p:cNvSpPr/>
          <p:nvPr/>
        </p:nvSpPr>
        <p:spPr>
          <a:xfrm>
            <a:off x="800100" y="2800350"/>
            <a:ext cx="3149501"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Comparaison des revenus par genre et segmentation par tranche d'âge pour identifier les tendances démographiques influençant les comportements d'achat.</a:t>
            </a:r>
            <a:endParaRPr lang="en-US" sz="1200" dirty="0"/>
          </a:p>
        </p:txBody>
      </p:sp>
      <p:sp>
        <p:nvSpPr>
          <p:cNvPr id="21" name="Text 4"/>
          <p:cNvSpPr/>
          <p:nvPr/>
        </p:nvSpPr>
        <p:spPr>
          <a:xfrm>
            <a:off x="4892576" y="2400300"/>
            <a:ext cx="2955369"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Comportement d'achat</a:t>
            </a:r>
            <a:endParaRPr lang="en-US" sz="1500" dirty="0"/>
          </a:p>
        </p:txBody>
      </p:sp>
      <p:sp>
        <p:nvSpPr>
          <p:cNvPr id="22" name="Text 5"/>
          <p:cNvSpPr/>
          <p:nvPr/>
        </p:nvSpPr>
        <p:spPr>
          <a:xfrm>
            <a:off x="4521101" y="2800350"/>
            <a:ext cx="3149650"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Visualisation des comparaisons entre types de livraison, analyse des remises appliquées et identification des produits dépendants des promotions.</a:t>
            </a:r>
            <a:endParaRPr lang="en-US" sz="1200" dirty="0"/>
          </a:p>
        </p:txBody>
      </p:sp>
      <p:sp>
        <p:nvSpPr>
          <p:cNvPr id="23" name="Text 6"/>
          <p:cNvSpPr/>
          <p:nvPr/>
        </p:nvSpPr>
        <p:spPr>
          <a:xfrm>
            <a:off x="8613725" y="2400300"/>
            <a:ext cx="2813566"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Performance produits</a:t>
            </a:r>
            <a:endParaRPr lang="en-US" sz="1500" dirty="0"/>
          </a:p>
        </p:txBody>
      </p:sp>
      <p:sp>
        <p:nvSpPr>
          <p:cNvPr id="24" name="Text 7"/>
          <p:cNvSpPr/>
          <p:nvPr/>
        </p:nvSpPr>
        <p:spPr>
          <a:xfrm>
            <a:off x="8242250" y="2800350"/>
            <a:ext cx="3149501"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Classement des produits par note moyenne et visualisation des ventes pour mettre en avant les articles les plus performants et les mieux notés.</a:t>
            </a:r>
            <a:endParaRPr lang="en-US" sz="1200" dirty="0"/>
          </a:p>
        </p:txBody>
      </p:sp>
      <p:sp>
        <p:nvSpPr>
          <p:cNvPr id="25" name="Text 8"/>
          <p:cNvSpPr/>
          <p:nvPr/>
        </p:nvSpPr>
        <p:spPr>
          <a:xfrm>
            <a:off x="1171575" y="4305300"/>
            <a:ext cx="2926080"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Répartition des clients</a:t>
            </a:r>
            <a:endParaRPr lang="en-US" sz="1500" dirty="0"/>
          </a:p>
        </p:txBody>
      </p:sp>
      <p:sp>
        <p:nvSpPr>
          <p:cNvPr id="26" name="Text 9"/>
          <p:cNvSpPr/>
          <p:nvPr/>
        </p:nvSpPr>
        <p:spPr>
          <a:xfrm>
            <a:off x="800100" y="4705350"/>
            <a:ext cx="3149501" cy="11430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Distribution des clients par segment (Nouveau, Récurrent, Fidèle) et comparaison du panier moyen et du revenu total selon le statut d'abonnement.</a:t>
            </a:r>
            <a:endParaRPr lang="en-US" sz="1200" dirty="0"/>
          </a:p>
        </p:txBody>
      </p:sp>
      <p:sp>
        <p:nvSpPr>
          <p:cNvPr id="27" name="Text 10"/>
          <p:cNvSpPr/>
          <p:nvPr/>
        </p:nvSpPr>
        <p:spPr>
          <a:xfrm>
            <a:off x="4864001" y="4305300"/>
            <a:ext cx="3122712"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Stratégie de fidélisation</a:t>
            </a:r>
            <a:endParaRPr lang="en-US" sz="1500" dirty="0"/>
          </a:p>
        </p:txBody>
      </p:sp>
      <p:sp>
        <p:nvSpPr>
          <p:cNvPr id="28" name="Text 11"/>
          <p:cNvSpPr/>
          <p:nvPr/>
        </p:nvSpPr>
        <p:spPr>
          <a:xfrm>
            <a:off x="4521101" y="4705350"/>
            <a:ext cx="3149650"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Analyse de la relation entre le nombre d'achats et le statut d'abonnement pour optimiser les programmes de fidélité et les campagnes marketing.</a:t>
            </a:r>
            <a:endParaRPr lang="en-US" sz="1200" dirty="0"/>
          </a:p>
        </p:txBody>
      </p:sp>
      <p:sp>
        <p:nvSpPr>
          <p:cNvPr id="29" name="Text 12"/>
          <p:cNvSpPr/>
          <p:nvPr/>
        </p:nvSpPr>
        <p:spPr>
          <a:xfrm>
            <a:off x="8585150" y="4305300"/>
            <a:ext cx="2956441"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Exploration interactive</a:t>
            </a:r>
            <a:endParaRPr lang="en-US" sz="1500" dirty="0"/>
          </a:p>
        </p:txBody>
      </p:sp>
      <p:sp>
        <p:nvSpPr>
          <p:cNvPr id="30" name="Text 13"/>
          <p:cNvSpPr/>
          <p:nvPr/>
        </p:nvSpPr>
        <p:spPr>
          <a:xfrm>
            <a:off x="8242250" y="4705350"/>
            <a:ext cx="3149501" cy="11430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Fonctionnalités de filtrage et de drill-down pour explorer les données à différentes dimensions et découvrir des insights supplémentaires selon vos questions métier.</a:t>
            </a:r>
            <a:endParaRPr lang="en-US" sz="1200" dirty="0"/>
          </a:p>
        </p:txBody>
      </p:sp>
      <p:sp>
        <p:nvSpPr>
          <p:cNvPr id="31" name="Text 14"/>
          <p:cNvSpPr/>
          <p:nvPr/>
        </p:nvSpPr>
        <p:spPr>
          <a:xfrm>
            <a:off x="-487680" y="6324600"/>
            <a:ext cx="13167360" cy="228600"/>
          </a:xfrm>
          <a:prstGeom prst="rect">
            <a:avLst/>
          </a:prstGeom>
          <a:noFill/>
          <a:ln/>
        </p:spPr>
        <p:txBody>
          <a:bodyPr wrap="square" lIns="0" tIns="0" rIns="0" bIns="0" rtlCol="0" anchor="t" vert="horz"/>
          <a:lstStyle/>
          <a:p>
            <a:pPr algn="ctr" indent="0" marL="0">
              <a:lnSpc>
                <a:spcPts val="1800"/>
              </a:lnSpc>
              <a:buNone/>
            </a:pPr>
            <a:r>
              <a:rPr lang="en-US" sz="1200" i="1" dirty="0">
                <a:solidFill>
                  <a:srgbClr val="6B7280"/>
                </a:solidFill>
                <a:latin typeface="ui-sans-serif" pitchFamily="34" charset="0"/>
                <a:ea typeface="ui-sans-serif" pitchFamily="34" charset="-122"/>
                <a:cs typeface="ui-sans-serif" pitchFamily="34" charset="-120"/>
              </a:rPr>
              <a:t>Le dashboard est accessible en ligne et peut être personnalisé selon vos besoins spécifiques.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857250"/>
          </a:xfrm>
          <a:prstGeom prst="rect">
            <a:avLst/>
          </a:prstGeom>
        </p:spPr>
      </p:pic>
      <p:pic>
        <p:nvPicPr>
          <p:cNvPr id="4" name="Image 2" descr="preencoded.png">    </p:cNvPr>
          <p:cNvPicPr>
            <a:picLocks noChangeAspect="1"/>
          </p:cNvPicPr>
          <p:nvPr/>
        </p:nvPicPr>
        <p:blipFill>
          <a:blip r:embed="rId3"/>
          <a:stretch>
            <a:fillRect/>
          </a:stretch>
        </p:blipFill>
        <p:spPr>
          <a:xfrm>
            <a:off x="609600" y="1657350"/>
            <a:ext cx="3505200" cy="1752600"/>
          </a:xfrm>
          <a:prstGeom prst="rect">
            <a:avLst/>
          </a:prstGeom>
        </p:spPr>
      </p:pic>
      <p:pic>
        <p:nvPicPr>
          <p:cNvPr id="5" name="Image 3" descr="preencoded.png">    </p:cNvPr>
          <p:cNvPicPr>
            <a:picLocks noChangeAspect="1"/>
          </p:cNvPicPr>
          <p:nvPr/>
        </p:nvPicPr>
        <p:blipFill>
          <a:blip r:embed="rId4"/>
          <a:stretch>
            <a:fillRect/>
          </a:stretch>
        </p:blipFill>
        <p:spPr>
          <a:xfrm>
            <a:off x="800100" y="1847850"/>
            <a:ext cx="571500" cy="571500"/>
          </a:xfrm>
          <a:prstGeom prst="rect">
            <a:avLst/>
          </a:prstGeom>
        </p:spPr>
      </p:pic>
      <p:pic>
        <p:nvPicPr>
          <p:cNvPr id="6" name="Image 4" descr="preencoded.png">    </p:cNvPr>
          <p:cNvPicPr>
            <a:picLocks noChangeAspect="1"/>
          </p:cNvPicPr>
          <p:nvPr/>
        </p:nvPicPr>
        <p:blipFill>
          <a:blip r:embed="rId5"/>
          <a:stretch>
            <a:fillRect/>
          </a:stretch>
        </p:blipFill>
        <p:spPr>
          <a:xfrm>
            <a:off x="957263" y="1981200"/>
            <a:ext cx="257175" cy="304800"/>
          </a:xfrm>
          <a:prstGeom prst="rect">
            <a:avLst/>
          </a:prstGeom>
        </p:spPr>
      </p:pic>
      <p:pic>
        <p:nvPicPr>
          <p:cNvPr id="7" name="Image 5" descr="preencoded.png">    </p:cNvPr>
          <p:cNvPicPr>
            <a:picLocks noChangeAspect="1"/>
          </p:cNvPicPr>
          <p:nvPr/>
        </p:nvPicPr>
        <p:blipFill>
          <a:blip r:embed="rId6"/>
          <a:stretch>
            <a:fillRect/>
          </a:stretch>
        </p:blipFill>
        <p:spPr>
          <a:xfrm>
            <a:off x="4343400" y="1657350"/>
            <a:ext cx="3505200" cy="1752600"/>
          </a:xfrm>
          <a:prstGeom prst="rect">
            <a:avLst/>
          </a:prstGeom>
        </p:spPr>
      </p:pic>
      <p:pic>
        <p:nvPicPr>
          <p:cNvPr id="8" name="Image 6" descr="preencoded.png">    </p:cNvPr>
          <p:cNvPicPr>
            <a:picLocks noChangeAspect="1"/>
          </p:cNvPicPr>
          <p:nvPr/>
        </p:nvPicPr>
        <p:blipFill>
          <a:blip r:embed="rId7"/>
          <a:stretch>
            <a:fillRect/>
          </a:stretch>
        </p:blipFill>
        <p:spPr>
          <a:xfrm>
            <a:off x="4533900" y="1847850"/>
            <a:ext cx="571500" cy="571500"/>
          </a:xfrm>
          <a:prstGeom prst="rect">
            <a:avLst/>
          </a:prstGeom>
        </p:spPr>
      </p:pic>
      <p:pic>
        <p:nvPicPr>
          <p:cNvPr id="9" name="Image 7" descr="preencoded.png">    </p:cNvPr>
          <p:cNvPicPr>
            <a:picLocks noChangeAspect="1"/>
          </p:cNvPicPr>
          <p:nvPr/>
        </p:nvPicPr>
        <p:blipFill>
          <a:blip r:embed="rId8"/>
          <a:stretch>
            <a:fillRect/>
          </a:stretch>
        </p:blipFill>
        <p:spPr>
          <a:xfrm>
            <a:off x="4705350" y="1981200"/>
            <a:ext cx="228600" cy="304800"/>
          </a:xfrm>
          <a:prstGeom prst="rect">
            <a:avLst/>
          </a:prstGeom>
        </p:spPr>
      </p:pic>
      <p:pic>
        <p:nvPicPr>
          <p:cNvPr id="10" name="Image 8" descr="preencoded.png">    </p:cNvPr>
          <p:cNvPicPr>
            <a:picLocks noChangeAspect="1"/>
          </p:cNvPicPr>
          <p:nvPr/>
        </p:nvPicPr>
        <p:blipFill>
          <a:blip r:embed="rId9"/>
          <a:stretch>
            <a:fillRect/>
          </a:stretch>
        </p:blipFill>
        <p:spPr>
          <a:xfrm>
            <a:off x="8077200" y="1657350"/>
            <a:ext cx="3505200" cy="1752600"/>
          </a:xfrm>
          <a:prstGeom prst="rect">
            <a:avLst/>
          </a:prstGeom>
        </p:spPr>
      </p:pic>
      <p:pic>
        <p:nvPicPr>
          <p:cNvPr id="11" name="Image 9" descr="preencoded.png">    </p:cNvPr>
          <p:cNvPicPr>
            <a:picLocks noChangeAspect="1"/>
          </p:cNvPicPr>
          <p:nvPr/>
        </p:nvPicPr>
        <p:blipFill>
          <a:blip r:embed="rId10"/>
          <a:stretch>
            <a:fillRect/>
          </a:stretch>
        </p:blipFill>
        <p:spPr>
          <a:xfrm>
            <a:off x="8267700" y="1847850"/>
            <a:ext cx="571500" cy="571500"/>
          </a:xfrm>
          <a:prstGeom prst="rect">
            <a:avLst/>
          </a:prstGeom>
        </p:spPr>
      </p:pic>
      <p:pic>
        <p:nvPicPr>
          <p:cNvPr id="12" name="Image 10" descr="preencoded.png">    </p:cNvPr>
          <p:cNvPicPr>
            <a:picLocks noChangeAspect="1"/>
          </p:cNvPicPr>
          <p:nvPr/>
        </p:nvPicPr>
        <p:blipFill>
          <a:blip r:embed="rId11"/>
          <a:stretch>
            <a:fillRect/>
          </a:stretch>
        </p:blipFill>
        <p:spPr>
          <a:xfrm>
            <a:off x="8467725" y="1981200"/>
            <a:ext cx="171450" cy="304800"/>
          </a:xfrm>
          <a:prstGeom prst="rect">
            <a:avLst/>
          </a:prstGeom>
        </p:spPr>
      </p:pic>
      <p:pic>
        <p:nvPicPr>
          <p:cNvPr id="13" name="Image 11" descr="preencoded.png">    </p:cNvPr>
          <p:cNvPicPr>
            <a:picLocks noChangeAspect="1"/>
          </p:cNvPicPr>
          <p:nvPr/>
        </p:nvPicPr>
        <p:blipFill>
          <a:blip r:embed="rId12"/>
          <a:stretch>
            <a:fillRect/>
          </a:stretch>
        </p:blipFill>
        <p:spPr>
          <a:xfrm>
            <a:off x="609600" y="3638550"/>
            <a:ext cx="3505200" cy="1981200"/>
          </a:xfrm>
          <a:prstGeom prst="rect">
            <a:avLst/>
          </a:prstGeom>
        </p:spPr>
      </p:pic>
      <p:pic>
        <p:nvPicPr>
          <p:cNvPr id="14" name="Image 12" descr="preencoded.png">    </p:cNvPr>
          <p:cNvPicPr>
            <a:picLocks noChangeAspect="1"/>
          </p:cNvPicPr>
          <p:nvPr/>
        </p:nvPicPr>
        <p:blipFill>
          <a:blip r:embed="rId13"/>
          <a:stretch>
            <a:fillRect/>
          </a:stretch>
        </p:blipFill>
        <p:spPr>
          <a:xfrm>
            <a:off x="800100" y="3829050"/>
            <a:ext cx="571500" cy="571500"/>
          </a:xfrm>
          <a:prstGeom prst="rect">
            <a:avLst/>
          </a:prstGeom>
        </p:spPr>
      </p:pic>
      <p:pic>
        <p:nvPicPr>
          <p:cNvPr id="15" name="Image 13" descr="preencoded.png">    </p:cNvPr>
          <p:cNvPicPr>
            <a:picLocks noChangeAspect="1"/>
          </p:cNvPicPr>
          <p:nvPr/>
        </p:nvPicPr>
        <p:blipFill>
          <a:blip r:embed="rId14"/>
          <a:stretch>
            <a:fillRect/>
          </a:stretch>
        </p:blipFill>
        <p:spPr>
          <a:xfrm>
            <a:off x="971550" y="3962400"/>
            <a:ext cx="228600" cy="304800"/>
          </a:xfrm>
          <a:prstGeom prst="rect">
            <a:avLst/>
          </a:prstGeom>
        </p:spPr>
      </p:pic>
      <p:pic>
        <p:nvPicPr>
          <p:cNvPr id="16" name="Image 14" descr="preencoded.png">    </p:cNvPr>
          <p:cNvPicPr>
            <a:picLocks noChangeAspect="1"/>
          </p:cNvPicPr>
          <p:nvPr/>
        </p:nvPicPr>
        <p:blipFill>
          <a:blip r:embed="rId15"/>
          <a:stretch>
            <a:fillRect/>
          </a:stretch>
        </p:blipFill>
        <p:spPr>
          <a:xfrm>
            <a:off x="4343400" y="3638550"/>
            <a:ext cx="3505200" cy="1981200"/>
          </a:xfrm>
          <a:prstGeom prst="rect">
            <a:avLst/>
          </a:prstGeom>
        </p:spPr>
      </p:pic>
      <p:pic>
        <p:nvPicPr>
          <p:cNvPr id="17" name="Image 15" descr="preencoded.png">    </p:cNvPr>
          <p:cNvPicPr>
            <a:picLocks noChangeAspect="1"/>
          </p:cNvPicPr>
          <p:nvPr/>
        </p:nvPicPr>
        <p:blipFill>
          <a:blip r:embed="rId16"/>
          <a:stretch>
            <a:fillRect/>
          </a:stretch>
        </p:blipFill>
        <p:spPr>
          <a:xfrm>
            <a:off x="4533900" y="3829050"/>
            <a:ext cx="571500" cy="571500"/>
          </a:xfrm>
          <a:prstGeom prst="rect">
            <a:avLst/>
          </a:prstGeom>
        </p:spPr>
      </p:pic>
      <p:pic>
        <p:nvPicPr>
          <p:cNvPr id="18" name="Image 16" descr="preencoded.png">    </p:cNvPr>
          <p:cNvPicPr>
            <a:picLocks noChangeAspect="1"/>
          </p:cNvPicPr>
          <p:nvPr/>
        </p:nvPicPr>
        <p:blipFill>
          <a:blip r:embed="rId17"/>
          <a:stretch>
            <a:fillRect/>
          </a:stretch>
        </p:blipFill>
        <p:spPr>
          <a:xfrm>
            <a:off x="4705350" y="3962400"/>
            <a:ext cx="228600" cy="304800"/>
          </a:xfrm>
          <a:prstGeom prst="rect">
            <a:avLst/>
          </a:prstGeom>
        </p:spPr>
      </p:pic>
      <p:sp>
        <p:nvSpPr>
          <p:cNvPr id="19" name="Text 0"/>
          <p:cNvSpPr/>
          <p:nvPr/>
        </p:nvSpPr>
        <p:spPr>
          <a:xfrm>
            <a:off x="609600" y="238125"/>
            <a:ext cx="7369493"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Recommandations stratégiques</a:t>
            </a:r>
            <a:endParaRPr lang="en-US" sz="2700" dirty="0"/>
          </a:p>
        </p:txBody>
      </p:sp>
      <p:sp>
        <p:nvSpPr>
          <p:cNvPr id="20" name="Text 1"/>
          <p:cNvSpPr/>
          <p:nvPr/>
        </p:nvSpPr>
        <p:spPr>
          <a:xfrm>
            <a:off x="609600" y="1162050"/>
            <a:ext cx="13167360" cy="266700"/>
          </a:xfrm>
          <a:prstGeom prst="rect">
            <a:avLst/>
          </a:prstGeom>
          <a:noFill/>
          <a:ln/>
        </p:spPr>
        <p:txBody>
          <a:bodyPr wrap="square" lIns="0" tIns="0" rIns="0" bIns="0" rtlCol="0" anchor="t" vert="horz"/>
          <a:lstStyle/>
          <a:p>
            <a:pPr indent="0" marL="0">
              <a:lnSpc>
                <a:spcPts val="2100"/>
              </a:lnSpc>
              <a:buNone/>
            </a:pPr>
            <a:r>
              <a:rPr lang="en-US" sz="1350" dirty="0">
                <a:solidFill>
                  <a:srgbClr val="374151"/>
                </a:solidFill>
                <a:latin typeface="ui-sans-serif" pitchFamily="34" charset="0"/>
                <a:ea typeface="ui-sans-serif" pitchFamily="34" charset="-122"/>
                <a:cs typeface="ui-sans-serif" pitchFamily="34" charset="-120"/>
              </a:rPr>
              <a:t>Voici cinq recommandations clés basées sur notre analyse pour optimiser les performances business :</a:t>
            </a:r>
            <a:endParaRPr lang="en-US" sz="1350" dirty="0"/>
          </a:p>
        </p:txBody>
      </p:sp>
      <p:sp>
        <p:nvSpPr>
          <p:cNvPr id="21" name="Text 2"/>
          <p:cNvSpPr/>
          <p:nvPr/>
        </p:nvSpPr>
        <p:spPr>
          <a:xfrm>
            <a:off x="1524000" y="1847850"/>
            <a:ext cx="240030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Augmenter les abonnements</a:t>
            </a:r>
            <a:endParaRPr lang="en-US" sz="1500" dirty="0"/>
          </a:p>
        </p:txBody>
      </p:sp>
      <p:sp>
        <p:nvSpPr>
          <p:cNvPr id="22" name="Text 3"/>
          <p:cNvSpPr/>
          <p:nvPr/>
        </p:nvSpPr>
        <p:spPr>
          <a:xfrm>
            <a:off x="800100" y="2533650"/>
            <a:ext cx="3124200" cy="6858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Promouvoir les avantages exclusifs pour les abonnés afin de booster la fidélité et les revenus récurrents.</a:t>
            </a:r>
            <a:endParaRPr lang="en-US" sz="1200" dirty="0"/>
          </a:p>
        </p:txBody>
      </p:sp>
      <p:sp>
        <p:nvSpPr>
          <p:cNvPr id="23" name="Text 4"/>
          <p:cNvSpPr/>
          <p:nvPr/>
        </p:nvSpPr>
        <p:spPr>
          <a:xfrm>
            <a:off x="5257800" y="1847850"/>
            <a:ext cx="240030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Programmes de fidélité</a:t>
            </a:r>
            <a:endParaRPr lang="en-US" sz="1500" dirty="0"/>
          </a:p>
        </p:txBody>
      </p:sp>
      <p:sp>
        <p:nvSpPr>
          <p:cNvPr id="24" name="Text 5"/>
          <p:cNvSpPr/>
          <p:nvPr/>
        </p:nvSpPr>
        <p:spPr>
          <a:xfrm>
            <a:off x="4533900" y="2533650"/>
            <a:ext cx="3124200" cy="6858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Récompenser les acheteurs réguliers pour les convertir en clients fidèles et augmenter leur lifetime value.</a:t>
            </a:r>
            <a:endParaRPr lang="en-US" sz="1200" dirty="0"/>
          </a:p>
        </p:txBody>
      </p:sp>
      <p:sp>
        <p:nvSpPr>
          <p:cNvPr id="25" name="Text 6"/>
          <p:cNvSpPr/>
          <p:nvPr/>
        </p:nvSpPr>
        <p:spPr>
          <a:xfrm>
            <a:off x="8991600" y="1847850"/>
            <a:ext cx="240030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Revoir la politique de remises</a:t>
            </a:r>
            <a:endParaRPr lang="en-US" sz="1500" dirty="0"/>
          </a:p>
        </p:txBody>
      </p:sp>
      <p:sp>
        <p:nvSpPr>
          <p:cNvPr id="26" name="Text 7"/>
          <p:cNvSpPr/>
          <p:nvPr/>
        </p:nvSpPr>
        <p:spPr>
          <a:xfrm>
            <a:off x="8267700" y="2533650"/>
            <a:ext cx="3124200" cy="6858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Trouver un équilibre entre augmentation des ventes et maîtrise des marges pour une stratégie de remises efficace.</a:t>
            </a:r>
            <a:endParaRPr lang="en-US" sz="1200" dirty="0"/>
          </a:p>
        </p:txBody>
      </p:sp>
      <p:sp>
        <p:nvSpPr>
          <p:cNvPr id="27" name="Text 8"/>
          <p:cNvSpPr/>
          <p:nvPr/>
        </p:nvSpPr>
        <p:spPr>
          <a:xfrm>
            <a:off x="1524000" y="3829050"/>
            <a:ext cx="2400300" cy="5334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Positionnement produit</a:t>
            </a:r>
            <a:endParaRPr lang="en-US" sz="1500" dirty="0"/>
          </a:p>
        </p:txBody>
      </p:sp>
      <p:sp>
        <p:nvSpPr>
          <p:cNvPr id="28" name="Text 9"/>
          <p:cNvSpPr/>
          <p:nvPr/>
        </p:nvSpPr>
        <p:spPr>
          <a:xfrm>
            <a:off x="800100" y="4514850"/>
            <a:ext cx="3124200"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Mettre en avant les produits les mieux notés et les plus vendus dans les campagnes marketing pour influencer les décisions d'achat.</a:t>
            </a:r>
            <a:endParaRPr lang="en-US" sz="1200" dirty="0"/>
          </a:p>
        </p:txBody>
      </p:sp>
      <p:sp>
        <p:nvSpPr>
          <p:cNvPr id="29" name="Text 10"/>
          <p:cNvSpPr/>
          <p:nvPr/>
        </p:nvSpPr>
        <p:spPr>
          <a:xfrm>
            <a:off x="5257800" y="3829050"/>
            <a:ext cx="2000071" cy="266700"/>
          </a:xfrm>
          <a:prstGeom prst="rect">
            <a:avLst/>
          </a:prstGeom>
          <a:noFill/>
          <a:ln/>
        </p:spPr>
        <p:txBody>
          <a:bodyPr wrap="square" lIns="0" tIns="0" rIns="0" bIns="0" rtlCol="0" anchor="t" vert="horz"/>
          <a:lstStyle/>
          <a:p>
            <a:pPr indent="0" marL="0">
              <a:lnSpc>
                <a:spcPts val="2100"/>
              </a:lnSpc>
              <a:buNone/>
            </a:pPr>
            <a:r>
              <a:rPr lang="en-US" sz="1500" b="1" dirty="0">
                <a:solidFill>
                  <a:srgbClr val="1F2937"/>
                </a:solidFill>
                <a:latin typeface="ui-sans-serif" pitchFamily="34" charset="0"/>
                <a:ea typeface="ui-sans-serif" pitchFamily="34" charset="-122"/>
                <a:cs typeface="ui-sans-serif" pitchFamily="34" charset="-120"/>
              </a:rPr>
              <a:t>Marketing ciblé</a:t>
            </a:r>
            <a:endParaRPr lang="en-US" sz="1500" dirty="0"/>
          </a:p>
        </p:txBody>
      </p:sp>
      <p:sp>
        <p:nvSpPr>
          <p:cNvPr id="30" name="Text 11"/>
          <p:cNvSpPr/>
          <p:nvPr/>
        </p:nvSpPr>
        <p:spPr>
          <a:xfrm>
            <a:off x="4533900" y="4514850"/>
            <a:ext cx="3124200" cy="914400"/>
          </a:xfrm>
          <a:prstGeom prst="rect">
            <a:avLst/>
          </a:prstGeom>
          <a:noFill/>
          <a:ln/>
        </p:spPr>
        <p:txBody>
          <a:bodyPr wrap="square" lIns="0" tIns="0" rIns="0" bIns="0" rtlCol="0" anchor="t" vert="horz"/>
          <a:lstStyle/>
          <a:p>
            <a:pPr indent="0" marL="0">
              <a:lnSpc>
                <a:spcPts val="1800"/>
              </a:lnSpc>
              <a:buNone/>
            </a:pPr>
            <a:r>
              <a:rPr lang="en-US" sz="1200" dirty="0">
                <a:solidFill>
                  <a:srgbClr val="4B5563"/>
                </a:solidFill>
                <a:latin typeface="ui-sans-serif" pitchFamily="34" charset="0"/>
                <a:ea typeface="ui-sans-serif" pitchFamily="34" charset="-122"/>
                <a:cs typeface="ui-sans-serif" pitchFamily="34" charset="-120"/>
              </a:rPr>
              <a:t>Concentrer les efforts sur les tranches d'âge générant le plus de revenus et sur les utilisateurs qui choisissent la livraison express.</a:t>
            </a:r>
            <a:endParaRPr lang="en-US" sz="1200" dirty="0"/>
          </a:p>
        </p:txBody>
      </p:sp>
      <p:sp>
        <p:nvSpPr>
          <p:cNvPr id="31" name="Text 12"/>
          <p:cNvSpPr/>
          <p:nvPr/>
        </p:nvSpPr>
        <p:spPr>
          <a:xfrm>
            <a:off x="609600" y="5924550"/>
            <a:ext cx="10972800" cy="533400"/>
          </a:xfrm>
          <a:prstGeom prst="rect">
            <a:avLst/>
          </a:prstGeom>
          <a:noFill/>
          <a:ln/>
        </p:spPr>
        <p:txBody>
          <a:bodyPr wrap="square" lIns="0" tIns="0" rIns="0" bIns="0" rtlCol="0" anchor="t" vert="horz"/>
          <a:lstStyle/>
          <a:p>
            <a:pPr algn="ctr" indent="0" marL="0">
              <a:lnSpc>
                <a:spcPts val="2100"/>
              </a:lnSpc>
              <a:buNone/>
            </a:pPr>
            <a:r>
              <a:rPr lang="en-US" sz="1350" i="1" dirty="0">
                <a:solidFill>
                  <a:srgbClr val="374151"/>
                </a:solidFill>
                <a:latin typeface="ui-sans-serif" pitchFamily="34" charset="0"/>
                <a:ea typeface="ui-sans-serif" pitchFamily="34" charset="-122"/>
                <a:cs typeface="ui-sans-serif" pitchFamily="34" charset="-120"/>
              </a:rPr>
              <a:t>Ces recommandations stratégiques devraient permettre d'améliorer significativement les performances business et l'expérience client.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2025-11-11T02:14:01Z</dcterms:created>
  <dcterms:modified xsi:type="dcterms:W3CDTF">2025-11-11T02:14:01Z</dcterms:modified>
</cp:coreProperties>
</file>